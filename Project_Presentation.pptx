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0" r:id="rId4"/>
    <p:sldId id="261" r:id="rId5"/>
    <p:sldId id="262" r:id="rId6"/>
    <p:sldId id="259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FF9075-6A1E-46C2-9025-698470752096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16950-4B5A-4B50-8AB7-C92CE8FB831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3658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I selected the topic: grievance redressal is a measurable, high-impact civic problem; it exercises text classification, explainable scoring and generative summarisation in one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problem is the gap between collecting complaints and understanding them — the motivation behind every design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Objectives map one-to-one to the base paper's six-stage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this base paper: it defines a realistic, high-impact problem (municipal complaint analysis), integrates NLP + Generative AI, and gives measurable success criteria (93% accuracy, weekly digests, PDF/Excel reports) that a project can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Sources are from reputed venues: Atlantis Press proceedings, NAACL-HLT, JMLR, IEEE Access — as required by the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prepared to explain: the research gap (no integrated classification + summarisation system for civic complaints) and how the proposed work differs from existing approaches.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six stages with the paper's own example: a complaint about a pothole in Ward 7 is cleaned, classified as Roads, prioritised, and aggregated into the weekly digest.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key engineering choices and the three bugs found during testing: corpus label collisions (50%→82% accuracy), duplicate inflation (seed templates), and priority inflation from the 'open' keyword.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Emphasise that 82.2% is a deliberately conservative, cross-validated figure on this project's own corpus — the paper's 93% was reported on its dataset. Also show a live demo of the dashboard and a generated PDF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Wrap up: restate the contribution (integrated six-stage system, honest 82.2% CV accuracy, verified end-to-end), the three main future directions,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C4A7-0BAC-2ED3-BD98-86A8AA13C2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C20347-4D8B-664A-240A-6B3B2E662D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9E61-8366-7285-7F8B-9E10BC6FB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73081E-5B6B-2C5B-E079-E74AAA56A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326E5-AB04-A9DD-A775-444025FC5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55415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6C556-7ECE-B72C-FB52-C7A13C78A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45259-814D-41FC-61CC-D08B546E7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0DC29-65FD-8415-1A72-B954181CB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1DC0A-B466-30F8-0134-E70365443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8C1C7-7B81-AEC8-6779-40F240D07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7446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F8C16-1703-3307-B492-B62ACCA4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D7E2A6-2BA6-D079-7991-9CB08CFEC4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8ABCF-CCC3-59CC-B7E4-5AF1DF964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95287-21E1-34E6-DA27-0B743106F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C39F9-EF8E-1BAF-F091-C9230B882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2598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40411-A95A-0DE5-B8B8-7DC6FF841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9DF18-663B-107C-2CF8-A5CD1E5A85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8285E6-5E7D-3630-8EAF-66D116FB4C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506AA4-34FD-861F-8461-65F806B2B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6F325C-924C-B83F-F710-ED4F35DAF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9D43A-3801-7738-3D0D-DD95DDB9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6752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41FB-0E78-4790-1B20-5C7B041B5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3AC2F7-94F5-FF43-A197-F9C3936392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03F5B-8786-8B8D-BA77-727176732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19249E-6A18-A2E9-BA5C-33AEA413BD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467487-718D-5659-BAD1-497BB87302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6181D8-26F7-AB7B-8B8E-92B1A5D51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FFE8F6-4AB1-532A-0CC6-1F8CC3D3C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EA6E57-592A-8BE2-9874-13807DF62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8479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8735-65F4-9F01-DB5A-C8FA43B63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618836-1B44-8437-7B1A-AC8A32B9F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EB6DD0-5F45-57A7-BEEF-74F7C0070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C0BAAD-7045-3495-4423-F1A58A9C2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6396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EBA564-ECCC-C7C1-123C-C7EA3E897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3825F0-5F1A-4566-CA7B-55B676E5C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36F89-1CC0-AEFB-DED9-C0A0AA1C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3784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D2804-E4CF-04E2-66BF-77D0FF39A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E6F07-4689-7467-8291-40CC2491C1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53162-CF00-D57E-9161-F1B08A4713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E00729-666E-21C0-CBCE-5D0B1F20D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E8F8DF-A8FC-D4B4-2B5A-62DF7C7BF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2F0F81-278D-B50A-E0CA-6A3FA0744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1194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9D6F1-3549-5143-C8E5-0B79AE766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B4AE6B-1D57-2E0B-A547-727EF60C85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41E468-500B-AF89-D294-D866A7354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A86EAF-1591-1111-304B-18BCF0D68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9AF556-443C-3E4B-E249-2F7A78C30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D7C667-CD1C-68E2-5583-1DC787210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6895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951CE-BA79-4CD2-6942-6BDB20DC5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2605B-69BB-8624-E9E8-2A8F52EED9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237A4-0A74-5B27-5F40-4ED343BA9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FB25B-A0B5-0D02-00C0-1A222B319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1D748-BD8F-C02B-F529-38D10F10A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9730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352BC8-E3F2-897C-2A71-613DAF481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46C3A-7246-3426-DF56-ADB16D639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440C3F-6319-82B5-C1A7-440760078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AD3CEB-3291-5526-22A2-92DF8ED16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AE322-63AE-E1A8-B2D8-F262A679E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6185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B99302-8325-D50B-18ED-0C6D5A97F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7B57C6-2777-8BB4-9568-9789FD7196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A9AB8B-7A18-9728-FEB6-BB98DCABB6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740EBB-539B-4413-A6A1-3628FBFDD731}" type="datetimeFigureOut">
              <a:rPr lang="en-IN" smtClean="0"/>
              <a:t>24-08-2026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A798A-DCB6-AE57-C218-96365A4C9A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DE700D-E671-D21C-854B-BFBA1D0BF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15A8CA-D7D5-4798-9054-B7FA1992A0A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585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E9204-D998-06BF-D507-6F75899168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3948" y="486888"/>
            <a:ext cx="9724103" cy="2778826"/>
          </a:xfrm>
        </p:spPr>
        <p:txBody>
          <a:bodyPr>
            <a:normAutofit/>
          </a:bodyPr>
          <a:lstStyle/>
          <a:p>
            <a:pPr algn="ctr">
              <a:spcAft>
                <a:spcPts val="200"/>
              </a:spcAft>
            </a:pPr>
            <a:r>
              <a:rPr sz="2600" b="0" dirty="0"/>
              <a:t>Artificial Intelligence and Data Science</a:t>
            </a:r>
          </a:p>
          <a:p>
            <a:pPr algn="ctr">
              <a:spcAft>
                <a:spcPts val="800"/>
              </a:spcAft>
            </a:pPr>
            <a:r>
              <a:rPr sz="3800" b="1" dirty="0" err="1">
                <a:solidFill>
                  <a:srgbClr val="1E2A4A"/>
                </a:solidFill>
              </a:rPr>
              <a:t>CivicSense</a:t>
            </a:r>
            <a:r>
              <a:rPr sz="3800" b="1" dirty="0">
                <a:solidFill>
                  <a:srgbClr val="1E2A4A"/>
                </a:solidFill>
              </a:rPr>
              <a:t>: AI-Based Citizen Complaint Analyzer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67201E-E375-1233-EF8D-F68022A27F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0877" y="3429000"/>
            <a:ext cx="10500852" cy="3522406"/>
          </a:xfrm>
        </p:spPr>
        <p:txBody>
          <a:bodyPr>
            <a:normAutofit/>
          </a:bodyPr>
          <a:lstStyle/>
          <a:p>
            <a:pPr algn="ctr">
              <a:spcAft>
                <a:spcPts val="600"/>
              </a:spcAft>
            </a:pPr>
            <a:r>
              <a:rPr sz="1800" b="0" dirty="0"/>
              <a:t>Project Group ID</a:t>
            </a:r>
            <a:r>
              <a:rPr sz="1800" b="0"/>
              <a:t>: </a:t>
            </a:r>
            <a:r>
              <a:rPr lang="en-US" sz="1800" b="0"/>
              <a:t>21</a:t>
            </a:r>
            <a:endParaRPr sz="1800" b="0" dirty="0"/>
          </a:p>
          <a:p>
            <a:pPr algn="ctr">
              <a:spcAft>
                <a:spcPts val="600"/>
              </a:spcAft>
            </a:pPr>
            <a:r>
              <a:rPr sz="1800" b="0" dirty="0"/>
              <a:t>Team Members: </a:t>
            </a:r>
            <a:r>
              <a:rPr lang="en-US" sz="1800" dirty="0"/>
              <a:t>Alankrit Kashyap (SOE23201030020)</a:t>
            </a:r>
          </a:p>
          <a:p>
            <a:pPr algn="ctr">
              <a:spcAft>
                <a:spcPts val="600"/>
              </a:spcAft>
            </a:pPr>
            <a:r>
              <a:rPr lang="en-US" sz="1800" dirty="0"/>
              <a:t>Mudit Gupta (SOE23201030024)</a:t>
            </a:r>
          </a:p>
          <a:p>
            <a:pPr algn="ctr">
              <a:spcAft>
                <a:spcPts val="600"/>
              </a:spcAft>
            </a:pPr>
            <a:r>
              <a:rPr lang="en-US" sz="1800" dirty="0"/>
              <a:t>Abhishek </a:t>
            </a:r>
            <a:r>
              <a:rPr lang="en-US" sz="1800" dirty="0" err="1"/>
              <a:t>Pattir</a:t>
            </a:r>
            <a:r>
              <a:rPr lang="en-US" sz="1800" dirty="0"/>
              <a:t> (SOE23201030006)</a:t>
            </a:r>
          </a:p>
          <a:p>
            <a:pPr algn="ctr">
              <a:spcAft>
                <a:spcPts val="600"/>
              </a:spcAft>
            </a:pPr>
            <a:r>
              <a:rPr lang="en-US" sz="1800" dirty="0"/>
              <a:t>Ashraf Pathan (SOE23201030048)</a:t>
            </a:r>
          </a:p>
          <a:p>
            <a:pPr algn="ctr">
              <a:spcAft>
                <a:spcPts val="600"/>
              </a:spcAft>
            </a:pPr>
            <a:r>
              <a:rPr sz="1800" b="0" dirty="0"/>
              <a:t>     Guide: </a:t>
            </a:r>
            <a:r>
              <a:rPr lang="en-US" sz="1800" dirty="0"/>
              <a:t>Dr. Manisha v Khadse</a:t>
            </a:r>
            <a:endParaRPr sz="1800" b="0" dirty="0"/>
          </a:p>
        </p:txBody>
      </p:sp>
      <p:pic>
        <p:nvPicPr>
          <p:cNvPr id="4" name="Picture 3" descr="C:\Users\PCU\AppData\Local\Microsoft\Windows\INetCache\Content.MSO\7F5807B9.tmp">
            <a:extLst>
              <a:ext uri="{FF2B5EF4-FFF2-40B4-BE49-F238E27FC236}">
                <a16:creationId xmlns:a16="http://schemas.microsoft.com/office/drawing/2014/main" id="{15BB0AD7-EF73-6AD1-9164-E45659CA3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805049" y="570016"/>
            <a:ext cx="8182099" cy="130628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56338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D3D82-E966-23E8-457D-37EA390A9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D1192-C18D-3D45-9D8E-66E4C7B9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Introduction</a:t>
            </a:r>
            <a:endParaRPr lang="en-IN" dirty="0"/>
          </a:p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Problem Statement</a:t>
            </a:r>
          </a:p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Objectives</a:t>
            </a:r>
          </a:p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Base Paper Details</a:t>
            </a:r>
          </a:p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Literature Survey</a:t>
            </a:r>
          </a:p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Research Gap</a:t>
            </a:r>
          </a:p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Proposed System — Six-Stage Pipeline</a:t>
            </a:r>
          </a:p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Implementation Highlights</a:t>
            </a:r>
          </a:p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Results &amp; Outcomes</a:t>
            </a:r>
          </a:p>
          <a:p>
            <a:pPr>
              <a:spcAft>
                <a:spcPts val="700"/>
              </a:spcAft>
              <a:buNone/>
            </a:pPr>
            <a:r>
              <a:rPr sz="1900" b="1">
                <a:solidFill>
                  <a:srgbClr val="3B5BDB"/>
                </a:solidFill>
              </a:rPr>
              <a:t>•  </a:t>
            </a:r>
            <a:r>
              <a:rPr sz="1900" b="0"/>
              <a:t>Conclusion, Future Work &amp; References</a:t>
            </a:r>
          </a:p>
        </p:txBody>
      </p:sp>
    </p:spTree>
    <p:extLst>
      <p:ext uri="{BB962C8B-B14F-4D97-AF65-F5344CB8AC3E}">
        <p14:creationId xmlns:p14="http://schemas.microsoft.com/office/powerpoint/2010/main" val="844136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Municipalities receive </a:t>
            </a:r>
            <a:r>
              <a:rPr sz="1800" b="1">
                <a:solidFill>
                  <a:srgbClr val="1E2A4A"/>
                </a:solidFill>
              </a:rPr>
              <a:t>hundreds of thousands of complaints daily</a:t>
            </a:r>
            <a:r>
              <a:rPr sz="1800" b="0"/>
              <a:t> — roads, power cuts, water supply, garbage, public safety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Complaints arrive via apps, portals, email, call centres &amp; social media — </a:t>
            </a:r>
            <a:r>
              <a:rPr sz="1800" b="1">
                <a:solidFill>
                  <a:srgbClr val="1E2A4A"/>
                </a:solidFill>
              </a:rPr>
              <a:t>noisy, unstructured, informal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Existing platforms (</a:t>
            </a:r>
            <a:r>
              <a:rPr sz="1800" b="1">
                <a:solidFill>
                  <a:srgbClr val="3B5BDB"/>
                </a:solidFill>
              </a:rPr>
              <a:t>CPGRAMS, OneService, NYC 311</a:t>
            </a:r>
            <a:r>
              <a:rPr sz="1800" b="0"/>
              <a:t>) collect but don't categorise, prioritise or summarise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Result: </a:t>
            </a:r>
            <a:r>
              <a:rPr sz="1800" b="1">
                <a:solidFill>
                  <a:srgbClr val="E5484D"/>
                </a:solidFill>
              </a:rPr>
              <a:t>delayed responses, duplicate records, reactive governance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Base paper proposes </a:t>
            </a:r>
            <a:r>
              <a:rPr sz="1800" b="1">
                <a:solidFill>
                  <a:srgbClr val="3B5BDB"/>
                </a:solidFill>
              </a:rPr>
              <a:t>CivicSense</a:t>
            </a:r>
            <a:r>
              <a:rPr sz="1800" b="0"/>
              <a:t>: an AI platform combining NLP + Generative AI for complaint intelligence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Why this topic: </a:t>
            </a:r>
            <a:r>
              <a:rPr sz="1800" b="0"/>
              <a:t>smart-city governance, citizen-centric data-driven service delivery, strong AI/ML scope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No automatic categorisation</a:t>
            </a:r>
            <a:r>
              <a:rPr sz="1800" b="0"/>
              <a:t> — an officer must read every complaint to route it to the right department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No prioritisation</a:t>
            </a:r>
            <a:r>
              <a:rPr sz="1800" b="0"/>
              <a:t> — a sewage overflow is treated like a flickering streetlight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No trend analysis</a:t>
            </a:r>
            <a:r>
              <a:rPr sz="1800" b="0"/>
              <a:t> — "recurring potholes in Ward 3" stays hidden inside raw logs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Duplicate re-files</a:t>
            </a:r>
            <a:r>
              <a:rPr sz="1800" b="0"/>
              <a:t> across channels inflate counts and waste municipal effort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Research question (from the paper): </a:t>
            </a:r>
            <a:r>
              <a:rPr sz="1800" b="1">
                <a:solidFill>
                  <a:srgbClr val="1E2A4A"/>
                </a:solidFill>
              </a:rPr>
              <a:t>how can NLP classification be combined with generative summarisation to deliver actionable, ward-level municipal intelligence?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Implement all six stages of the paper's pipeline (collection → preprocessing → classification → prioritisation → summarisation → reporting)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Classify complaints into the paper's 5 categories</a:t>
            </a:r>
            <a:r>
              <a:rPr sz="1800" b="0"/>
              <a:t> (Roads, Electricity, Water, Waste, Public Safety)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Assign </a:t>
            </a:r>
            <a:r>
              <a:rPr sz="1800" b="1">
                <a:solidFill>
                  <a:srgbClr val="1E2A4A"/>
                </a:solidFill>
              </a:rPr>
              <a:t>explainable High / Medium / Low priorities</a:t>
            </a:r>
            <a:r>
              <a:rPr sz="1800" b="0"/>
              <a:t> from urgency words, category risk, emotion, ward frequency &amp; age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Generate </a:t>
            </a:r>
            <a:r>
              <a:rPr sz="1800" b="1">
                <a:solidFill>
                  <a:srgbClr val="1E2A4A"/>
                </a:solidFill>
              </a:rPr>
              <a:t>weekly narrative digests + PDF/Excel reports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Provide an </a:t>
            </a:r>
            <a:r>
              <a:rPr sz="1800" b="1">
                <a:solidFill>
                  <a:srgbClr val="1E2A4A"/>
                </a:solidFill>
              </a:rPr>
              <a:t>officer dashboard</a:t>
            </a:r>
            <a:r>
              <a:rPr sz="1800" b="0"/>
              <a:t> for hotspots, trends and priorities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Validate everything with an </a:t>
            </a:r>
            <a:r>
              <a:rPr sz="1800" b="1">
                <a:solidFill>
                  <a:srgbClr val="1E2A4A"/>
                </a:solidFill>
              </a:rPr>
              <a:t>automated end-to-end test suite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DC0B1-AD6B-A035-1CA7-2C5684874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 Paper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A1F44-8D6F-4907-D5E8-B5D065BDD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900"/>
              </a:spcAft>
              <a:buNone/>
            </a:pPr>
            <a:r>
              <a:rPr sz="1500" b="1">
                <a:solidFill>
                  <a:srgbClr val="1E2A4A"/>
                </a:solidFill>
              </a:rPr>
              <a:t>Paper Title: </a:t>
            </a:r>
            <a:r>
              <a:rPr sz="1500" b="0"/>
              <a:t>CivicSense: AI-Based Citizen Complaint Analyzer</a:t>
            </a:r>
          </a:p>
          <a:p>
            <a:pPr>
              <a:spcAft>
                <a:spcPts val="900"/>
              </a:spcAft>
              <a:buNone/>
            </a:pPr>
            <a:r>
              <a:rPr sz="1500" b="1">
                <a:solidFill>
                  <a:srgbClr val="1E2A4A"/>
                </a:solidFill>
              </a:rPr>
              <a:t>Authors: </a:t>
            </a:r>
            <a:r>
              <a:rPr sz="1500" b="0"/>
              <a:t>Aakash P., Chandru T., Kiruba Wesley (St. Joseph's College of Engineering, Chennai)</a:t>
            </a:r>
          </a:p>
          <a:p>
            <a:pPr>
              <a:spcAft>
                <a:spcPts val="900"/>
              </a:spcAft>
              <a:buNone/>
            </a:pPr>
            <a:r>
              <a:rPr sz="1500" b="1">
                <a:solidFill>
                  <a:srgbClr val="1E2A4A"/>
                </a:solidFill>
              </a:rPr>
              <a:t>Conference: </a:t>
            </a:r>
            <a:r>
              <a:rPr sz="1500" b="0"/>
              <a:t>Global Conference on Sustainable Energy Systems, Smart Electronics and Intelligent Computing (GCSESEIC 2025)</a:t>
            </a:r>
          </a:p>
          <a:p>
            <a:pPr>
              <a:spcAft>
                <a:spcPts val="900"/>
              </a:spcAft>
              <a:buNone/>
            </a:pPr>
            <a:r>
              <a:rPr sz="1500" b="1">
                <a:solidFill>
                  <a:srgbClr val="1E2A4A"/>
                </a:solidFill>
              </a:rPr>
              <a:t>Publisher: </a:t>
            </a:r>
            <a:r>
              <a:rPr sz="1500" b="0"/>
              <a:t>Atlantis Press (Springer Nature) — Advances in Engineering Research, Vol. 297</a:t>
            </a:r>
          </a:p>
          <a:p>
            <a:pPr>
              <a:spcAft>
                <a:spcPts val="900"/>
              </a:spcAft>
              <a:buNone/>
            </a:pPr>
            <a:r>
              <a:rPr sz="1500" b="1">
                <a:solidFill>
                  <a:srgbClr val="1E2A4A"/>
                </a:solidFill>
              </a:rPr>
              <a:t>Year: </a:t>
            </a:r>
            <a:r>
              <a:rPr sz="1500" b="0"/>
              <a:t>2025 (proceedings © 2026)</a:t>
            </a:r>
          </a:p>
          <a:p>
            <a:pPr>
              <a:spcAft>
                <a:spcPts val="900"/>
              </a:spcAft>
              <a:buNone/>
            </a:pPr>
            <a:r>
              <a:rPr sz="1500" b="1">
                <a:solidFill>
                  <a:srgbClr val="1E2A4A"/>
                </a:solidFill>
              </a:rPr>
              <a:t>Indexing: </a:t>
            </a:r>
            <a:r>
              <a:rPr sz="1500" b="0"/>
              <a:t>Atlantis Press proceedings series · Open Access CC BY-NC 4.0</a:t>
            </a:r>
          </a:p>
          <a:p>
            <a:pPr>
              <a:spcAft>
                <a:spcPts val="900"/>
              </a:spcAft>
              <a:buNone/>
            </a:pPr>
            <a:r>
              <a:rPr sz="1500" b="1">
                <a:solidFill>
                  <a:srgbClr val="1E2A4A"/>
                </a:solidFill>
              </a:rPr>
              <a:t>DOI: </a:t>
            </a:r>
            <a:r>
              <a:rPr sz="1500" b="0"/>
              <a:t>10.2991/978-94-6239-654-8_43</a:t>
            </a:r>
          </a:p>
        </p:txBody>
      </p:sp>
    </p:spTree>
    <p:extLst>
      <p:ext uri="{BB962C8B-B14F-4D97-AF65-F5344CB8AC3E}">
        <p14:creationId xmlns:p14="http://schemas.microsoft.com/office/powerpoint/2010/main" val="3817639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Survey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Complaint platforms: </a:t>
            </a:r>
            <a:r>
              <a:rPr sz="1800" b="0"/>
              <a:t>CPGRAMS (India), OneService (Singapore), NYC 311 (USA) — manual sorting, limited automation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NLP classification: </a:t>
            </a:r>
            <a:r>
              <a:rPr sz="1800" b="0"/>
              <a:t>Naive Bayes / SVM → transformer models (BERT, RoBERTa, DistilBERT) with &gt;90% accuracy on municipal datasets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Generative AI: </a:t>
            </a:r>
            <a:r>
              <a:rPr sz="1800" b="0"/>
              <a:t>summaries in healthcare &amp; legal domains — not yet applied to citizen grievance analysis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Smart-city adjacent work: </a:t>
            </a:r>
            <a:r>
              <a:rPr sz="1800" b="0"/>
              <a:t>predictive pipe-burst models, traffic ML, IoT bins — optimise assets, not the citizen's voice</a:t>
            </a:r>
          </a:p>
          <a:p>
            <a:pPr>
              <a:spcAft>
                <a:spcPts val="8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Sentiment analysis: </a:t>
            </a:r>
            <a:r>
              <a:rPr sz="1800" b="0"/>
              <a:t>measures public mood, but cannot pinpoint ward-level service failure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Collected ≠ understood</a:t>
            </a:r>
            <a:r>
              <a:rPr sz="1800" b="0"/>
              <a:t> — portals store complaints; classifiers label them; </a:t>
            </a:r>
            <a:r>
              <a:rPr sz="1800" b="1">
                <a:solidFill>
                  <a:srgbClr val="E5484D"/>
                </a:solidFill>
              </a:rPr>
              <a:t>nothing produces prioritised, summarised insight</a:t>
            </a:r>
          </a:p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0"/>
              <a:t>No integrated system combines </a:t>
            </a:r>
            <a:r>
              <a:rPr sz="1800" b="1">
                <a:solidFill>
                  <a:srgbClr val="1E2A4A"/>
                </a:solidFill>
              </a:rPr>
              <a:t>classification + priority + generative digest</a:t>
            </a:r>
            <a:r>
              <a:rPr sz="1800" b="0"/>
              <a:t> for municipal grievance data</a:t>
            </a:r>
          </a:p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2B886"/>
                </a:solidFill>
              </a:rPr>
              <a:t>This project's contribution:</a:t>
            </a:r>
          </a:p>
          <a:p>
            <a:pPr lvl="1">
              <a:spcAft>
                <a:spcPts val="600"/>
              </a:spcAft>
              <a:buNone/>
            </a:pPr>
            <a:r>
              <a:rPr sz="1800" b="1">
                <a:solidFill>
                  <a:srgbClr val="5B6478"/>
                </a:solidFill>
              </a:rPr>
              <a:t>–  </a:t>
            </a:r>
            <a:r>
              <a:rPr sz="1800" b="0">
                <a:solidFill>
                  <a:srgbClr val="2B3245"/>
                </a:solidFill>
              </a:rPr>
              <a:t>Complete six-stage pipeline with a trained, cross-validated classifier</a:t>
            </a:r>
          </a:p>
          <a:p>
            <a:pPr lvl="1">
              <a:spcAft>
                <a:spcPts val="600"/>
              </a:spcAft>
              <a:buNone/>
            </a:pPr>
            <a:r>
              <a:rPr sz="1800" b="1">
                <a:solidFill>
                  <a:srgbClr val="5B6478"/>
                </a:solidFill>
              </a:rPr>
              <a:t>–  </a:t>
            </a:r>
            <a:r>
              <a:rPr sz="1800" b="0">
                <a:solidFill>
                  <a:srgbClr val="2B3245"/>
                </a:solidFill>
              </a:rPr>
              <a:t>Explainable priority decisions and paper-style weekly digests</a:t>
            </a:r>
          </a:p>
          <a:p>
            <a:pPr lvl="1">
              <a:spcAft>
                <a:spcPts val="600"/>
              </a:spcAft>
              <a:buNone/>
            </a:pPr>
            <a:r>
              <a:rPr sz="1800" b="1">
                <a:solidFill>
                  <a:srgbClr val="5B6478"/>
                </a:solidFill>
              </a:rPr>
              <a:t>–  </a:t>
            </a:r>
            <a:r>
              <a:rPr sz="1800" b="0">
                <a:solidFill>
                  <a:srgbClr val="2B3245"/>
                </a:solidFill>
              </a:rPr>
              <a:t>PDF / Excel reporting and an officer dashboard, verified end-to-end</a:t>
            </a:r>
          </a:p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How our work differs: </a:t>
            </a:r>
            <a:r>
              <a:rPr sz="1800" b="0"/>
              <a:t>single integrated system with honest CV accuracy (82.2%) and reproducible tests — not just a classifier or just a tracker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System — Six-Stage AI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920240"/>
            <a:ext cx="3246120" cy="1005840"/>
          </a:xfrm>
          <a:prstGeom prst="roundRect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 · Data Collection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(portal, app, email, API)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931920" y="2231136"/>
            <a:ext cx="777240" cy="384048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754880" y="1920240"/>
            <a:ext cx="3246120" cy="1005840"/>
          </a:xfrm>
          <a:prstGeom prst="roundRect">
            <a:avLst/>
          </a:prstGeom>
          <a:solidFill>
            <a:srgbClr val="2B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 · Preprocessing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(cleaning, lemmatisation, dedup)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046720" y="2231136"/>
            <a:ext cx="777240" cy="384048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869680" y="1920240"/>
            <a:ext cx="3246120" cy="1005840"/>
          </a:xfrm>
          <a:prstGeom prst="roundRect">
            <a:avLst/>
          </a:prstGeom>
          <a:solidFill>
            <a:srgbClr val="2B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 · Classification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(TF-IDF + SVM, 5 categories)</a:t>
            </a:r>
          </a:p>
        </p:txBody>
      </p:sp>
      <p:sp>
        <p:nvSpPr>
          <p:cNvPr id="8" name="Down Arrow 7"/>
          <p:cNvSpPr/>
          <p:nvPr/>
        </p:nvSpPr>
        <p:spPr>
          <a:xfrm rot="4658487">
            <a:off x="5934455" y="616905"/>
            <a:ext cx="384048" cy="5999915"/>
          </a:xfrm>
          <a:prstGeom prst="down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3246120" cy="1005840"/>
          </a:xfrm>
          <a:prstGeom prst="roundRect">
            <a:avLst/>
          </a:prstGeom>
          <a:solidFill>
            <a:srgbClr val="2B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 · Prioritisation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(High / Medium / Low, explainable)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31920" y="4654296"/>
            <a:ext cx="777240" cy="384048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0" y="4343400"/>
            <a:ext cx="3246120" cy="1005840"/>
          </a:xfrm>
          <a:prstGeom prst="roundRect">
            <a:avLst/>
          </a:prstGeom>
          <a:solidFill>
            <a:srgbClr val="2B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 · Summarisation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(weekly AI digests)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4654296"/>
            <a:ext cx="777240" cy="384048"/>
          </a:xfrm>
          <a:prstGeom prst="rightArrow">
            <a:avLst/>
          </a:prstGeom>
          <a:solidFill>
            <a:srgbClr val="3B5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869680" y="4343400"/>
            <a:ext cx="3246120" cy="1005840"/>
          </a:xfrm>
          <a:prstGeom prst="roundRect">
            <a:avLst/>
          </a:prstGeom>
          <a:solidFill>
            <a:srgbClr val="2B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 · Reports &amp; Dashboard</a:t>
            </a:r>
          </a:p>
          <a:p>
            <a:pPr algn="ctr"/>
            <a:r>
              <a:rPr sz="1400" b="1">
                <a:solidFill>
                  <a:srgbClr val="FFFFFF"/>
                </a:solidFill>
              </a:rPr>
              <a:t>(PDF, Excel, hotspot charts)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5B6478"/>
                </a:solidFill>
              </a:rPr>
              <a:t>Raw citizen input  →  structured, prioritised, actionable insight  (built in Python · Flask · scikit-learn · NLTK)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Tech stack: </a:t>
            </a:r>
            <a:r>
              <a:rPr sz="1800" b="0"/>
              <a:t>Python 3.12 · Flask · scikit-learn (TF-IDF + LinearSVC) · NLTK · SQLite · reportlab · openpyxl</a:t>
            </a:r>
          </a:p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6 modular components (~2,400 LOC)</a:t>
            </a:r>
            <a:r>
              <a:rPr sz="1800" b="0"/>
              <a:t> in a civic_sense/ package + REST API intake</a:t>
            </a:r>
          </a:p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Prioritisation signals (exactly per the paper): </a:t>
            </a:r>
            <a:r>
              <a:rPr sz="1800" b="0"/>
              <a:t>urgency keywords, category risk, emotion, same-ward frequency, age → score with explanation</a:t>
            </a:r>
          </a:p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Duplicate removal: </a:t>
            </a:r>
            <a:r>
              <a:rPr sz="1800" b="0"/>
              <a:t>normalised-text similarity ≥ 92% against recent complaints</a:t>
            </a:r>
          </a:p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Weekly digest (paper's style): </a:t>
            </a:r>
            <a:r>
              <a:rPr sz="1800" b="1">
                <a:solidFill>
                  <a:srgbClr val="3B5BDB"/>
                </a:solidFill>
              </a:rPr>
              <a:t>"Ward 2 recorded 24 complaints… 46% High Priority — needs immediate attention"</a:t>
            </a:r>
          </a:p>
          <a:p>
            <a:pPr>
              <a:spcAft>
                <a:spcPts val="600"/>
              </a:spcAft>
              <a:buNone/>
            </a:pPr>
            <a:r>
              <a:rPr sz="1800" b="1">
                <a:solidFill>
                  <a:srgbClr val="3B5BDB"/>
                </a:solidFill>
              </a:rPr>
              <a:t>•  </a:t>
            </a:r>
            <a:r>
              <a:rPr sz="1800" b="1">
                <a:solidFill>
                  <a:srgbClr val="1E2A4A"/>
                </a:solidFill>
              </a:rPr>
              <a:t>Optional upgrades: </a:t>
            </a:r>
            <a:r>
              <a:rPr sz="1800" b="0"/>
              <a:t>zero-shot DistilBERT classifier · GPT-4o digests (OPENAI_API_KEY)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521208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Classification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82.2% ± 5.5% (5-fold CV)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Priority split (H/M/L)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68 / 94 / 22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Duplicates detected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29 of 184 (16%)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End-to-end tests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25 / 25 passing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Paper examples classified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/>
                        <a:t>5 / 5 correct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1920240"/>
          <a:ext cx="53949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Base paper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82.2% (conservative CV)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Model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BERT/DistilBERT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TF-IDF+SVM (+ optional)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Priority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H/M/L (rule+AI)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Explainable H/M/L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Reports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PDF / Excel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PDF + Excel (verified)</a:t>
                      </a:r>
                    </a:p>
                  </a:txBody>
                  <a:tcPr>
                    <a:solidFill>
                      <a:srgbClr val="F2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Digest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"Ward 5: 42 road…"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/>
                        <a:t>Same narrative 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39496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i="1">
                <a:solidFill>
                  <a:srgbClr val="5B6478"/>
                </a:solidFill>
              </a:rPr>
              <a:t>Every number is measured from the running system — the classifier is evaluated with stratified 5-fold cross-validation; the demo data (180 complaints) is processed through the real pipeline.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Conclusion, Future Work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  <a:buNone/>
            </a:pPr>
            <a:r>
              <a:rPr sz="1700" b="1" dirty="0">
                <a:solidFill>
                  <a:srgbClr val="3B5BDB"/>
                </a:solidFill>
              </a:rPr>
              <a:t>•  </a:t>
            </a:r>
            <a:r>
              <a:rPr sz="1700" b="1" dirty="0">
                <a:solidFill>
                  <a:srgbClr val="1E2A4A"/>
                </a:solidFill>
              </a:rPr>
              <a:t>Delivered a complete, working implementation of </a:t>
            </a:r>
            <a:r>
              <a:rPr sz="1700" b="1" dirty="0" err="1">
                <a:solidFill>
                  <a:srgbClr val="1E2A4A"/>
                </a:solidFill>
              </a:rPr>
              <a:t>CivicSense</a:t>
            </a:r>
            <a:r>
              <a:rPr sz="1700" b="0" dirty="0"/>
              <a:t> — all six stages, verified end-to-end</a:t>
            </a:r>
          </a:p>
          <a:p>
            <a:pPr>
              <a:spcAft>
                <a:spcPts val="700"/>
              </a:spcAft>
              <a:buNone/>
            </a:pPr>
            <a:r>
              <a:rPr sz="1700" b="1" dirty="0">
                <a:solidFill>
                  <a:srgbClr val="3B5BDB"/>
                </a:solidFill>
              </a:rPr>
              <a:t>•  </a:t>
            </a:r>
            <a:r>
              <a:rPr sz="1700" b="1" dirty="0">
                <a:solidFill>
                  <a:srgbClr val="1E2A4A"/>
                </a:solidFill>
              </a:rPr>
              <a:t>Outcomes: </a:t>
            </a:r>
            <a:r>
              <a:rPr sz="1700" b="0" dirty="0"/>
              <a:t>82.2% CV accuracy, realistic priorities, 29 duplicates caught, working PDF/Excel digests</a:t>
            </a:r>
          </a:p>
          <a:p>
            <a:pPr>
              <a:spcAft>
                <a:spcPts val="700"/>
              </a:spcAft>
              <a:buNone/>
            </a:pPr>
            <a:r>
              <a:rPr sz="1700" b="1" dirty="0">
                <a:solidFill>
                  <a:srgbClr val="3B5BDB"/>
                </a:solidFill>
              </a:rPr>
              <a:t>•  </a:t>
            </a:r>
            <a:r>
              <a:rPr sz="1700" b="1" dirty="0">
                <a:solidFill>
                  <a:srgbClr val="E5484D"/>
                </a:solidFill>
              </a:rPr>
              <a:t>Limitations: </a:t>
            </a:r>
            <a:r>
              <a:rPr sz="1700" b="0" dirty="0"/>
              <a:t>accuracy gap vs 93% (smaller corpus), English-only, synthetic demo data</a:t>
            </a:r>
          </a:p>
          <a:p>
            <a:pPr>
              <a:spcAft>
                <a:spcPts val="700"/>
              </a:spcAft>
              <a:buNone/>
            </a:pPr>
            <a:r>
              <a:rPr sz="1700" b="1" dirty="0">
                <a:solidFill>
                  <a:srgbClr val="3B5BDB"/>
                </a:solidFill>
              </a:rPr>
              <a:t>•  </a:t>
            </a:r>
            <a:r>
              <a:rPr sz="1700" b="1" dirty="0">
                <a:solidFill>
                  <a:srgbClr val="12B886"/>
                </a:solidFill>
              </a:rPr>
              <a:t>Future work: </a:t>
            </a:r>
            <a:r>
              <a:rPr sz="1700" b="0" dirty="0"/>
              <a:t>multilingual support, predictive analytics, IoT + GIS integration, citizen feedback loops</a:t>
            </a:r>
          </a:p>
          <a:p>
            <a:pPr>
              <a:spcAft>
                <a:spcPts val="400"/>
              </a:spcAft>
            </a:pPr>
            <a:r>
              <a:rPr sz="1500" b="1" dirty="0">
                <a:solidFill>
                  <a:srgbClr val="1E2A4A"/>
                </a:solidFill>
              </a:rPr>
              <a:t>References</a:t>
            </a:r>
          </a:p>
          <a:p>
            <a:pPr lvl="1">
              <a:spcAft>
                <a:spcPts val="400"/>
              </a:spcAft>
            </a:pPr>
            <a:r>
              <a:rPr sz="1150" b="0" dirty="0">
                <a:solidFill>
                  <a:srgbClr val="2B3245"/>
                </a:solidFill>
              </a:rPr>
              <a:t>Aakash P. et al., "</a:t>
            </a:r>
            <a:r>
              <a:rPr sz="1150" b="0" dirty="0" err="1">
                <a:solidFill>
                  <a:srgbClr val="2B3245"/>
                </a:solidFill>
              </a:rPr>
              <a:t>CivicSense</a:t>
            </a:r>
            <a:r>
              <a:rPr sz="1150" b="0" dirty="0">
                <a:solidFill>
                  <a:srgbClr val="2B3245"/>
                </a:solidFill>
              </a:rPr>
              <a:t>: AI-Based Citizen Complaint Analyzer," GCSESEIC 2025, Advances in Engineering Research 297, Atlantis Press. DOI: 10.2991/978-94-6239-654-8_43</a:t>
            </a:r>
          </a:p>
          <a:p>
            <a:pPr lvl="1">
              <a:spcAft>
                <a:spcPts val="400"/>
              </a:spcAft>
            </a:pPr>
            <a:r>
              <a:rPr sz="1150" b="0" dirty="0">
                <a:solidFill>
                  <a:srgbClr val="2B3245"/>
                </a:solidFill>
              </a:rPr>
              <a:t>Devlin J. et al., "BERT: Pre-training of Deep Bidirectional Transformers for Language Understanding," NAACL-HLT, 2019.</a:t>
            </a:r>
          </a:p>
          <a:p>
            <a:pPr lvl="1">
              <a:spcAft>
                <a:spcPts val="400"/>
              </a:spcAft>
            </a:pPr>
            <a:r>
              <a:rPr sz="1150" b="0" dirty="0">
                <a:solidFill>
                  <a:srgbClr val="2B3245"/>
                </a:solidFill>
              </a:rPr>
              <a:t>Pedregosa F. et al., "Scikit-learn: Machine Learning in Python," JMLR 12, 2011.</a:t>
            </a:r>
          </a:p>
          <a:p>
            <a:pPr lvl="1">
              <a:spcAft>
                <a:spcPts val="400"/>
              </a:spcAft>
            </a:pPr>
            <a:r>
              <a:rPr sz="1150" b="0" dirty="0">
                <a:solidFill>
                  <a:srgbClr val="2B3245"/>
                </a:solidFill>
              </a:rPr>
              <a:t>Bird S., Klein E., Loper E., "Natural Language Processing with Python," O'Reilly, 2009.</a:t>
            </a:r>
          </a:p>
          <a:p>
            <a:pPr algn="ctr">
              <a:spcAft>
                <a:spcPts val="0"/>
              </a:spcAft>
            </a:pPr>
            <a:r>
              <a:rPr sz="1800" b="1" dirty="0">
                <a:solidFill>
                  <a:srgbClr val="3B5BDB"/>
                </a:solidFill>
              </a:rPr>
              <a:t>Thank You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1503</Words>
  <Application>Microsoft Office PowerPoint</Application>
  <PresentationFormat>Widescreen</PresentationFormat>
  <Paragraphs>135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Artificial Intelligence and Data Science CivicSense: AI-Based Citizen Complaint Analyzer</vt:lpstr>
      <vt:lpstr>Content:</vt:lpstr>
      <vt:lpstr>Introduction</vt:lpstr>
      <vt:lpstr>Problem Statement</vt:lpstr>
      <vt:lpstr>Objectives</vt:lpstr>
      <vt:lpstr>Base Paper Details</vt:lpstr>
      <vt:lpstr>Literature Survey</vt:lpstr>
      <vt:lpstr>Research Gap</vt:lpstr>
      <vt:lpstr>Proposed System — Six-Stage AI Pipeline</vt:lpstr>
      <vt:lpstr>Implementation Highlights</vt:lpstr>
      <vt:lpstr>Results &amp; Outcomes</vt:lpstr>
      <vt:lpstr>Conclusion, Future Work &amp;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Mudit Gupta</cp:lastModifiedBy>
  <cp:revision>5</cp:revision>
  <dcterms:created xsi:type="dcterms:W3CDTF">2026-08-06T08:35:21Z</dcterms:created>
  <dcterms:modified xsi:type="dcterms:W3CDTF">2026-08-24T07:23:34Z</dcterms:modified>
</cp:coreProperties>
</file>