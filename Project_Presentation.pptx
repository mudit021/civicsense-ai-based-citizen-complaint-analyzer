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0" r:id="rId4"/>
    <p:sldId id="261" r:id="rId5"/>
    <p:sldId id="262" r:id="rId6"/>
    <p:sldId id="259" r:id="rId7"/>
    <p:sldId id="263" r:id="rId8"/>
    <p:sldId id="264" r:id="rId9"/>
    <p:sldId id="269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FF9075-6A1E-46C2-9025-698470752096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16950-4B5A-4B50-8AB7-C92CE8FB8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65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I selected the topic: grievance redressal is a measurable, high-impact civic problem; it exercises text classification, explainable scoring and generative summarisation in one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problem is the gap between collecting complaints and understanding them — the motivation behind every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Objectives map one-to-one to the base paper's six-stage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this base paper: it defines a realistic, high-impact problem (municipal complaint analysis), integrates NLP + Generative AI, and gives measurable success criteria (93% accuracy, weekly digests, PDF/Excel reports) that a project can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 are from reputed venues: Atlantis Press proceedings, NAACL-HLT, JMLR, IEEE Access — as required by the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prepared to explain: the research gap (no integrated classification + summarisation system for civic complaints) and how the proposed work differs from existing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 stages with the paper's own example: a complaint about a pothole in Ward 7 is cleaned, classified as Roads, prioritised, and aggregated into the weekly digest.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key engineering choices and the three bugs found during testing: corpus label collisions (50%→82% accuracy), duplicate inflation (seed templates), and priority inflation from the 'open' keyword.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that 82.2% is a deliberately conservative, cross-validated figure on this project's own corpus — the paper's 93% was reported on its dataset. Also show a live demo of the dashboard and a generated PDF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up: restate the contribution (integrated six-stage system, honest 82.2% CV accuracy, verified end-to-end), the three main future directions,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C4A7-0BAC-2ED3-BD98-86A8AA13C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20347-4D8B-664A-240A-6B3B2E662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9E61-8366-7285-7F8B-9E10BC6F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3081E-5B6B-2C5B-E079-E74AAA56A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26E5-AB04-A9DD-A775-444025FC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54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C556-7ECE-B72C-FB52-C7A13C78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45259-814D-41FC-61CC-D08B546E7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0DC29-65FD-8415-1A72-B954181C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1DC0A-B466-30F8-0134-E7036544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C1C7-7B81-AEC8-6779-40F240D0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4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8C16-1703-3307-B492-B62ACCA4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7E2A6-2BA6-D079-7991-9CB08CFEC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ABCF-CCC3-59CC-B7E4-5AF1DF96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5287-21E1-34E6-DA27-0B743106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C39F9-EF8E-1BAF-F091-C9230B88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59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0411-A95A-0DE5-B8B8-7DC6FF84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DF18-663B-107C-2CF8-A5CD1E5A8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285E6-5E7D-3630-8EAF-66D116FB4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06AA4-34FD-861F-8461-65F806B2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F325C-924C-B83F-F710-ED4F35DA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9D43A-3801-7738-3D0D-DD95DDB9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5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41FB-0E78-4790-1B20-5C7B041B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AC2F7-94F5-FF43-A197-F9C393639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03F5B-8786-8B8D-BA77-727176732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19249E-6A18-A2E9-BA5C-33AEA413B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67487-718D-5659-BAD1-497BB8730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181D8-26F7-AB7B-8B8E-92B1A5D5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FE8F6-4AB1-532A-0CC6-1F8CC3D3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A6E57-592A-8BE2-9874-13807DF6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479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8735-65F4-9F01-DB5A-C8FA43B6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18836-1B44-8437-7B1A-AC8A32B9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B6DD0-5F45-57A7-BEEF-74F7C007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0BAAD-7045-3495-4423-F1A58A9C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39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BA564-ECCC-C7C1-123C-C7EA3E89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825F0-5F1A-4566-CA7B-55B676E5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36F89-1CC0-AEFB-DED9-C0A0AA1C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78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2804-E4CF-04E2-66BF-77D0FF39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E6F07-4689-7467-8291-40CC2491C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53162-CF00-D57E-9161-F1B08A471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00729-666E-21C0-CBCE-5D0B1F20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8F8DF-A8FC-D4B4-2B5A-62DF7C7B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F0F81-278D-B50A-E0CA-6A3FA074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19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D6F1-3549-5143-C8E5-0B79AE76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4AE6B-1D57-2E0B-A547-727EF60C8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1E468-500B-AF89-D294-D866A7354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86EAF-1591-1111-304B-18BCF0D6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F556-443C-3E4B-E249-2F7A78C3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7C667-CD1C-68E2-5583-1DC78721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9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51CE-BA79-4CD2-6942-6BDB20DC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2605B-69BB-8624-E9E8-2A8F52EED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37A4-0A74-5B27-5F40-4ED343BA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FB25B-A0B5-0D02-00C0-1A222B31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1D748-BD8F-C02B-F529-38D10F10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3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52BC8-E3F2-897C-2A71-613DAF481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46C3A-7246-3426-DF56-ADB16D63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40C3F-6319-82B5-C1A7-44076007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3CEB-3291-5526-22A2-92DF8ED1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AE322-63AE-E1A8-B2D8-F262A679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18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99302-8325-D50B-18ED-0C6D5A97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B57C6-2777-8BB4-9568-9789FD719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9AB8B-7A18-9728-FEB6-BB98DCAB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40EBB-539B-4413-A6A1-3628FBFDD73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A798A-DCB6-AE57-C218-96365A4C9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700D-E671-D21C-854B-BFBA1D0BF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85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9204-D998-06BF-D507-6F7589916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3948" y="486888"/>
            <a:ext cx="9724103" cy="2778826"/>
          </a:xfrm>
        </p:spPr>
        <p:txBody>
          <a:bodyPr>
            <a:normAutofit/>
          </a:bodyPr>
          <a:lstStyle/>
          <a:p>
            <a:pPr algn="ctr">
              <a:spcAft>
                <a:spcPts val="200"/>
              </a:spcAft>
            </a:pPr>
            <a:r>
              <a:rPr sz="2600" b="0" dirty="0"/>
              <a:t>Artificial Intelligence and Data Science</a:t>
            </a:r>
          </a:p>
          <a:p>
            <a:pPr algn="ctr">
              <a:spcAft>
                <a:spcPts val="800"/>
              </a:spcAft>
            </a:pPr>
            <a:r>
              <a:rPr sz="3800" b="1" dirty="0" err="1">
                <a:solidFill>
                  <a:srgbClr val="1E2A4A"/>
                </a:solidFill>
              </a:rPr>
              <a:t>CivicSense</a:t>
            </a:r>
            <a:r>
              <a:rPr sz="3800" b="1" dirty="0">
                <a:solidFill>
                  <a:srgbClr val="1E2A4A"/>
                </a:solidFill>
              </a:rPr>
              <a:t>: AI-Based Citizen Complaint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7201E-E375-1233-EF8D-F68022A27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877" y="3429000"/>
            <a:ext cx="10500852" cy="352240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0" dirty="0"/>
              <a:t>Project Group ID: </a:t>
            </a:r>
            <a:r>
              <a:rPr lang="en-US" sz="1800" b="0" dirty="0"/>
              <a:t>21</a:t>
            </a:r>
            <a:endParaRPr sz="1800" b="0" dirty="0"/>
          </a:p>
          <a:p>
            <a:pPr algn="ctr">
              <a:spcAft>
                <a:spcPts val="600"/>
              </a:spcAft>
            </a:pPr>
            <a:r>
              <a:rPr sz="1800" b="0" dirty="0"/>
              <a:t>Team Members: </a:t>
            </a:r>
            <a:r>
              <a:rPr lang="en-US" sz="1800" dirty="0"/>
              <a:t>Alankrit Kashyap (SOE23201030020) {</a:t>
            </a:r>
            <a:r>
              <a:rPr lang="en-US" sz="1800"/>
              <a:t>Team Leader}</a:t>
            </a:r>
            <a:endParaRPr lang="en-US" sz="1800" dirty="0"/>
          </a:p>
          <a:p>
            <a:pPr algn="ctr">
              <a:spcAft>
                <a:spcPts val="600"/>
              </a:spcAft>
            </a:pPr>
            <a:r>
              <a:rPr lang="en-US" sz="1800" dirty="0"/>
              <a:t>Mudit Gupta (SOE23201030024)</a:t>
            </a:r>
          </a:p>
          <a:p>
            <a:pPr algn="ctr">
              <a:spcAft>
                <a:spcPts val="600"/>
              </a:spcAft>
            </a:pPr>
            <a:r>
              <a:rPr lang="en-US" sz="1800" dirty="0"/>
              <a:t>Abhishek </a:t>
            </a:r>
            <a:r>
              <a:rPr lang="en-US" sz="1800" dirty="0" err="1"/>
              <a:t>Pattir</a:t>
            </a:r>
            <a:r>
              <a:rPr lang="en-US" sz="1800" dirty="0"/>
              <a:t> (SOE23201030006)</a:t>
            </a:r>
          </a:p>
          <a:p>
            <a:pPr algn="ctr">
              <a:spcAft>
                <a:spcPts val="600"/>
              </a:spcAft>
            </a:pPr>
            <a:r>
              <a:rPr lang="en-US" sz="1800" dirty="0"/>
              <a:t>Ashraf Pathan (SOE23201030048)</a:t>
            </a:r>
          </a:p>
          <a:p>
            <a:pPr algn="ctr">
              <a:spcAft>
                <a:spcPts val="600"/>
              </a:spcAft>
            </a:pPr>
            <a:r>
              <a:rPr sz="1800" b="0" dirty="0"/>
              <a:t>     Guide: </a:t>
            </a:r>
            <a:r>
              <a:rPr lang="en-US" sz="1800" dirty="0"/>
              <a:t>Dr. Manisha v Khadse</a:t>
            </a:r>
            <a:endParaRPr sz="1800" b="0" dirty="0"/>
          </a:p>
        </p:txBody>
      </p:sp>
      <p:pic>
        <p:nvPicPr>
          <p:cNvPr id="4" name="Picture 3" descr="C:\Users\PCU\AppData\Local\Microsoft\Windows\INetCache\Content.MSO\7F5807B9.tmp">
            <a:extLst>
              <a:ext uri="{FF2B5EF4-FFF2-40B4-BE49-F238E27FC236}">
                <a16:creationId xmlns:a16="http://schemas.microsoft.com/office/drawing/2014/main" id="{15BB0AD7-EF73-6AD1-9164-E45659CA3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5049" y="570016"/>
            <a:ext cx="8182099" cy="1306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6338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D3D82-E966-23E8-457D-37EA390A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D1192-C18D-3D45-9D8E-66E4C7B95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Introduction</a:t>
            </a:r>
            <a:endParaRPr lang="en-IN" dirty="0"/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Problem Statement</a:t>
            </a:r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Objectives</a:t>
            </a:r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Base Paper Details</a:t>
            </a:r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Literature Survey</a:t>
            </a:r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Research Gap</a:t>
            </a:r>
            <a:endParaRPr lang="en-US" sz="1900" b="0" dirty="0"/>
          </a:p>
          <a:p>
            <a:pPr>
              <a:spcAft>
                <a:spcPts val="700"/>
              </a:spcAft>
              <a:buNone/>
            </a:pPr>
            <a:r>
              <a:rPr lang="en-IN" sz="1900" b="1" dirty="0">
                <a:solidFill>
                  <a:srgbClr val="3B5BDB"/>
                </a:solidFill>
              </a:rPr>
              <a:t>•  </a:t>
            </a:r>
            <a:r>
              <a:rPr lang="en-US" sz="1900" b="0" dirty="0"/>
              <a:t>Existing System</a:t>
            </a:r>
            <a:endParaRPr sz="1900" b="0" dirty="0"/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Proposed System — Six-Stage Pipeline</a:t>
            </a:r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Implementation Highlights</a:t>
            </a:r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Results &amp; Outcomes</a:t>
            </a:r>
          </a:p>
          <a:p>
            <a:pPr>
              <a:spcAft>
                <a:spcPts val="700"/>
              </a:spcAft>
              <a:buNone/>
            </a:pPr>
            <a:r>
              <a:rPr sz="1900" b="1" dirty="0">
                <a:solidFill>
                  <a:srgbClr val="3B5BDB"/>
                </a:solidFill>
              </a:rPr>
              <a:t>•  </a:t>
            </a:r>
            <a:r>
              <a:rPr sz="1900" b="0" dirty="0"/>
              <a:t>Conclusion, Future Work &amp; References</a:t>
            </a:r>
          </a:p>
        </p:txBody>
      </p:sp>
    </p:spTree>
    <p:extLst>
      <p:ext uri="{BB962C8B-B14F-4D97-AF65-F5344CB8AC3E}">
        <p14:creationId xmlns:p14="http://schemas.microsoft.com/office/powerpoint/2010/main" val="84413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0" dirty="0"/>
              <a:t>Municipalities receive </a:t>
            </a:r>
            <a:r>
              <a:rPr sz="1800" b="1" dirty="0">
                <a:solidFill>
                  <a:srgbClr val="1E2A4A"/>
                </a:solidFill>
              </a:rPr>
              <a:t>hundreds of thousands of complaints daily</a:t>
            </a:r>
            <a:r>
              <a:rPr sz="1800" b="0" dirty="0"/>
              <a:t> — roads, power cuts, water supply, garbage, public safety</a:t>
            </a:r>
          </a:p>
          <a:p>
            <a:pPr>
              <a:spcAft>
                <a:spcPts val="8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0" dirty="0"/>
              <a:t>Complaints arrive via apps, portals, email, call </a:t>
            </a:r>
            <a:r>
              <a:rPr sz="1800" b="0" dirty="0" err="1"/>
              <a:t>centres</a:t>
            </a:r>
            <a:r>
              <a:rPr sz="1800" b="0" dirty="0"/>
              <a:t> &amp; social media — </a:t>
            </a:r>
            <a:r>
              <a:rPr sz="1800" b="1" dirty="0">
                <a:solidFill>
                  <a:srgbClr val="1E2A4A"/>
                </a:solidFill>
              </a:rPr>
              <a:t>noisy, unstructured, informal</a:t>
            </a:r>
          </a:p>
          <a:p>
            <a:pPr>
              <a:spcAft>
                <a:spcPts val="8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0" dirty="0"/>
              <a:t>Existing platforms (</a:t>
            </a:r>
            <a:r>
              <a:rPr sz="1800" b="1" dirty="0" err="1">
                <a:solidFill>
                  <a:srgbClr val="3B5BDB"/>
                </a:solidFill>
              </a:rPr>
              <a:t>OneService</a:t>
            </a:r>
            <a:r>
              <a:rPr sz="1800" b="1" dirty="0">
                <a:solidFill>
                  <a:srgbClr val="3B5BDB"/>
                </a:solidFill>
              </a:rPr>
              <a:t>, NYC 311</a:t>
            </a:r>
            <a:r>
              <a:rPr sz="1800" b="0" dirty="0"/>
              <a:t>) collect but don't </a:t>
            </a:r>
            <a:r>
              <a:rPr sz="1800" b="0" dirty="0" err="1"/>
              <a:t>categorise</a:t>
            </a:r>
            <a:r>
              <a:rPr sz="1800" b="0" dirty="0"/>
              <a:t>, </a:t>
            </a:r>
            <a:r>
              <a:rPr sz="1800" b="0" dirty="0" err="1"/>
              <a:t>prioritise</a:t>
            </a:r>
            <a:r>
              <a:rPr sz="1800" b="0" dirty="0"/>
              <a:t> or </a:t>
            </a:r>
            <a:r>
              <a:rPr sz="1800" b="0" dirty="0" err="1"/>
              <a:t>summarise</a:t>
            </a:r>
            <a:endParaRPr sz="1800" b="0" dirty="0"/>
          </a:p>
          <a:p>
            <a:pPr>
              <a:spcAft>
                <a:spcPts val="8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0" dirty="0"/>
              <a:t>Result: </a:t>
            </a:r>
            <a:r>
              <a:rPr sz="1800" b="1" dirty="0">
                <a:solidFill>
                  <a:srgbClr val="E5484D"/>
                </a:solidFill>
              </a:rPr>
              <a:t>delayed responses, duplicate records, reactive governance</a:t>
            </a:r>
          </a:p>
          <a:p>
            <a:pPr>
              <a:spcAft>
                <a:spcPts val="8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0" dirty="0"/>
              <a:t>Base paper proposes </a:t>
            </a:r>
            <a:r>
              <a:rPr sz="1800" b="1" dirty="0" err="1">
                <a:solidFill>
                  <a:srgbClr val="3B5BDB"/>
                </a:solidFill>
              </a:rPr>
              <a:t>CivicSense</a:t>
            </a:r>
            <a:r>
              <a:rPr sz="1800" b="0" dirty="0"/>
              <a:t>: an AI platform combining NLP + Generative AI for complaint intelligence</a:t>
            </a:r>
          </a:p>
          <a:p>
            <a:pPr>
              <a:spcAft>
                <a:spcPts val="8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1" dirty="0">
                <a:solidFill>
                  <a:srgbClr val="1E2A4A"/>
                </a:solidFill>
              </a:rPr>
              <a:t>Why this topic: </a:t>
            </a:r>
            <a:r>
              <a:rPr sz="1800" b="0" dirty="0"/>
              <a:t>smart-city governance, citizen-centric data-driven service delivery, strong AI/ML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E2A4A"/>
                </a:solidFill>
              </a:rPr>
              <a:t>No automatic categorisation</a:t>
            </a:r>
            <a:r>
              <a:rPr sz="1800" b="0"/>
              <a:t> — an officer must read every complaint to route it to the right department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E2A4A"/>
                </a:solidFill>
              </a:rPr>
              <a:t>No prioritisation</a:t>
            </a:r>
            <a:r>
              <a:rPr sz="1800" b="0"/>
              <a:t> — a sewage overflow is treated like a flickering streetlight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E2A4A"/>
                </a:solidFill>
              </a:rPr>
              <a:t>No trend analysis</a:t>
            </a:r>
            <a:r>
              <a:rPr sz="1800" b="0"/>
              <a:t> — "recurring potholes in Ward 3" stays hidden inside raw logs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E2A4A"/>
                </a:solidFill>
              </a:rPr>
              <a:t>Duplicate re-files</a:t>
            </a:r>
            <a:r>
              <a:rPr sz="1800" b="0"/>
              <a:t> across channels inflate counts and waste municipal effort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Research question (from the paper): </a:t>
            </a:r>
            <a:r>
              <a:rPr sz="1800" b="1">
                <a:solidFill>
                  <a:srgbClr val="1E2A4A"/>
                </a:solidFill>
              </a:rPr>
              <a:t>how can NLP classification be combined with generative summarisation to deliver actionable, ward-level municipal intelligence?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0"/>
              <a:t>Implement all six stages of the paper's pipeline (collection → preprocessing → classification → prioritisation → summarisation → reporting)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E2A4A"/>
                </a:solidFill>
              </a:rPr>
              <a:t>Classify complaints into the paper's 5 categories</a:t>
            </a:r>
            <a:r>
              <a:rPr sz="1800" b="0"/>
              <a:t> (Roads, Electricity, Water, Waste, Public Safety)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0"/>
              <a:t>Assign </a:t>
            </a:r>
            <a:r>
              <a:rPr sz="1800" b="1">
                <a:solidFill>
                  <a:srgbClr val="1E2A4A"/>
                </a:solidFill>
              </a:rPr>
              <a:t>explainable High / Medium / Low priorities</a:t>
            </a:r>
            <a:r>
              <a:rPr sz="1800" b="0"/>
              <a:t> from urgency words, category risk, emotion, ward frequency &amp; age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0"/>
              <a:t>Generate </a:t>
            </a:r>
            <a:r>
              <a:rPr sz="1800" b="1">
                <a:solidFill>
                  <a:srgbClr val="1E2A4A"/>
                </a:solidFill>
              </a:rPr>
              <a:t>weekly narrative digests + PDF/Excel reports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0"/>
              <a:t>Provide an </a:t>
            </a:r>
            <a:r>
              <a:rPr sz="1800" b="1">
                <a:solidFill>
                  <a:srgbClr val="1E2A4A"/>
                </a:solidFill>
              </a:rPr>
              <a:t>officer dashboard</a:t>
            </a:r>
            <a:r>
              <a:rPr sz="1800" b="0"/>
              <a:t> for hotspots, trends and priorities</a:t>
            </a:r>
          </a:p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0"/>
              <a:t>Validate everything with an </a:t>
            </a:r>
            <a:r>
              <a:rPr sz="1800" b="1">
                <a:solidFill>
                  <a:srgbClr val="1E2A4A"/>
                </a:solidFill>
              </a:rPr>
              <a:t>automated end-to-end test suite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C0B1-AD6B-A035-1CA7-2C568487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Paper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1F44-8D6F-4907-D5E8-B5D065BDD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900"/>
              </a:spcAft>
              <a:buNone/>
            </a:pPr>
            <a:r>
              <a:rPr sz="1500" b="1">
                <a:solidFill>
                  <a:srgbClr val="1E2A4A"/>
                </a:solidFill>
              </a:rPr>
              <a:t>Paper Title: </a:t>
            </a:r>
            <a:r>
              <a:rPr sz="1500" b="0"/>
              <a:t>CivicSense: AI-Based Citizen Complaint Analyzer</a:t>
            </a:r>
          </a:p>
          <a:p>
            <a:pPr>
              <a:spcAft>
                <a:spcPts val="900"/>
              </a:spcAft>
              <a:buNone/>
            </a:pPr>
            <a:r>
              <a:rPr sz="1500" b="1">
                <a:solidFill>
                  <a:srgbClr val="1E2A4A"/>
                </a:solidFill>
              </a:rPr>
              <a:t>Authors: </a:t>
            </a:r>
            <a:r>
              <a:rPr sz="1500" b="0"/>
              <a:t>Aakash P., Chandru T., Kiruba Wesley (St. Joseph's College of Engineering, Chennai)</a:t>
            </a:r>
          </a:p>
          <a:p>
            <a:pPr>
              <a:spcAft>
                <a:spcPts val="900"/>
              </a:spcAft>
              <a:buNone/>
            </a:pPr>
            <a:r>
              <a:rPr sz="1500" b="1">
                <a:solidFill>
                  <a:srgbClr val="1E2A4A"/>
                </a:solidFill>
              </a:rPr>
              <a:t>Conference: </a:t>
            </a:r>
            <a:r>
              <a:rPr sz="1500" b="0"/>
              <a:t>Global Conference on Sustainable Energy Systems, Smart Electronics and Intelligent Computing (GCSESEIC 2025)</a:t>
            </a:r>
          </a:p>
          <a:p>
            <a:pPr>
              <a:spcAft>
                <a:spcPts val="900"/>
              </a:spcAft>
              <a:buNone/>
            </a:pPr>
            <a:r>
              <a:rPr sz="1500" b="1">
                <a:solidFill>
                  <a:srgbClr val="1E2A4A"/>
                </a:solidFill>
              </a:rPr>
              <a:t>Publisher: </a:t>
            </a:r>
            <a:r>
              <a:rPr sz="1500" b="0"/>
              <a:t>Atlantis Press (Springer Nature) — Advances in Engineering Research, Vol. 297</a:t>
            </a:r>
          </a:p>
          <a:p>
            <a:pPr>
              <a:spcAft>
                <a:spcPts val="900"/>
              </a:spcAft>
              <a:buNone/>
            </a:pPr>
            <a:r>
              <a:rPr sz="1500" b="1">
                <a:solidFill>
                  <a:srgbClr val="1E2A4A"/>
                </a:solidFill>
              </a:rPr>
              <a:t>Year: </a:t>
            </a:r>
            <a:r>
              <a:rPr sz="1500" b="0"/>
              <a:t>2025 (proceedings © 2026)</a:t>
            </a:r>
          </a:p>
          <a:p>
            <a:pPr>
              <a:spcAft>
                <a:spcPts val="900"/>
              </a:spcAft>
              <a:buNone/>
            </a:pPr>
            <a:r>
              <a:rPr sz="1500" b="1">
                <a:solidFill>
                  <a:srgbClr val="1E2A4A"/>
                </a:solidFill>
              </a:rPr>
              <a:t>Indexing: </a:t>
            </a:r>
            <a:r>
              <a:rPr sz="1500" b="0"/>
              <a:t>Atlantis Press proceedings series · Open Access CC BY-NC 4.0</a:t>
            </a:r>
          </a:p>
          <a:p>
            <a:pPr>
              <a:spcAft>
                <a:spcPts val="900"/>
              </a:spcAft>
              <a:buNone/>
            </a:pPr>
            <a:r>
              <a:rPr sz="1500" b="1">
                <a:solidFill>
                  <a:srgbClr val="1E2A4A"/>
                </a:solidFill>
              </a:rPr>
              <a:t>DOI: </a:t>
            </a:r>
            <a:r>
              <a:rPr sz="1500" b="0"/>
              <a:t>10.2991/978-94-6239-654-8_43</a:t>
            </a:r>
          </a:p>
        </p:txBody>
      </p:sp>
    </p:spTree>
    <p:extLst>
      <p:ext uri="{BB962C8B-B14F-4D97-AF65-F5344CB8AC3E}">
        <p14:creationId xmlns:p14="http://schemas.microsoft.com/office/powerpoint/2010/main" val="381763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sz="3200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1406A5-8C57-A4A3-B038-EA215A704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17152"/>
              </p:ext>
            </p:extLst>
          </p:nvPr>
        </p:nvGraphicFramePr>
        <p:xfrm>
          <a:off x="370840" y="1325563"/>
          <a:ext cx="11607800" cy="5354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6894">
                  <a:extLst>
                    <a:ext uri="{9D8B030D-6E8A-4147-A177-3AD203B41FA5}">
                      <a16:colId xmlns:a16="http://schemas.microsoft.com/office/drawing/2014/main" val="3313722270"/>
                    </a:ext>
                  </a:extLst>
                </a:gridCol>
                <a:gridCol w="3186605">
                  <a:extLst>
                    <a:ext uri="{9D8B030D-6E8A-4147-A177-3AD203B41FA5}">
                      <a16:colId xmlns:a16="http://schemas.microsoft.com/office/drawing/2014/main" val="4146049113"/>
                    </a:ext>
                  </a:extLst>
                </a:gridCol>
                <a:gridCol w="2941181">
                  <a:extLst>
                    <a:ext uri="{9D8B030D-6E8A-4147-A177-3AD203B41FA5}">
                      <a16:colId xmlns:a16="http://schemas.microsoft.com/office/drawing/2014/main" val="1984912154"/>
                    </a:ext>
                  </a:extLst>
                </a:gridCol>
                <a:gridCol w="2321560">
                  <a:extLst>
                    <a:ext uri="{9D8B030D-6E8A-4147-A177-3AD203B41FA5}">
                      <a16:colId xmlns:a16="http://schemas.microsoft.com/office/drawing/2014/main" val="1130771336"/>
                    </a:ext>
                  </a:extLst>
                </a:gridCol>
                <a:gridCol w="2321560">
                  <a:extLst>
                    <a:ext uri="{9D8B030D-6E8A-4147-A177-3AD203B41FA5}">
                      <a16:colId xmlns:a16="http://schemas.microsoft.com/office/drawing/2014/main" val="3245193606"/>
                    </a:ext>
                  </a:extLst>
                </a:gridCol>
              </a:tblGrid>
              <a:tr h="12654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Serial Number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Title (Year)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Problem Addressed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Methodology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Research Gap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66521199"/>
                  </a:ext>
                </a:extLst>
              </a:tr>
              <a:tr h="73982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Centralised Public Grievance Redress and Monitoring System (PIB, 2026)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Managing and routing public grievances efficiently across government departments.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Centralized digital grievance portal transitioning from manual forwarding to automated routing systems.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Earlier complaint platforms relied heavily on manual sorting and forwarding processes, limiting efficiency before AI integration.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4262873778"/>
                  </a:ext>
                </a:extLst>
              </a:tr>
              <a:tr h="82743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Classification of User Complaints and Requests in Customer (EPESS, 2025)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The highly </a:t>
                      </a:r>
                      <a:r>
                        <a:rPr lang="en-IN" sz="1200" dirty="0" err="1">
                          <a:effectLst/>
                        </a:rPr>
                        <a:t>labor-intensive</a:t>
                      </a:r>
                      <a:r>
                        <a:rPr lang="en-IN" sz="1200" dirty="0">
                          <a:effectLst/>
                        </a:rPr>
                        <a:t> and time-consuming nature of manually categorizing textual user complaints.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Classical machine learning (SVM, Logistic Regression) transitioning to fine-tuned transformer models (BERT) optimized with </a:t>
                      </a:r>
                      <a:r>
                        <a:rPr lang="en-IN" sz="1200" dirty="0" err="1">
                          <a:effectLst/>
                        </a:rPr>
                        <a:t>LoRA</a:t>
                      </a:r>
                      <a:r>
                        <a:rPr lang="en-IN" sz="1200" dirty="0">
                          <a:effectLst/>
                        </a:rPr>
                        <a:t>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As dataset sizes increase, training full BERT models becomes computationally costly, requiring efficient parameter-reduction techniques.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503190699"/>
                  </a:ext>
                </a:extLst>
              </a:tr>
              <a:tr h="82743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3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AI-Driven Citizen Grievance Redressal System (IJERT, 2026)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Complex, ineffective procedures for citizens attempting to file municipal complaints and authorities needing to determine urgency.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Natural Language Processing, generative AI chatbots, and voice-to-text technologies to extract details and categorize issues.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Previous automated systems lacked comprehensive interactive features, such as conversational AI, limiting accessibility for diverse citizen user groups.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4001073287"/>
                  </a:ext>
                </a:extLst>
              </a:tr>
              <a:tr h="9150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4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Smart Cities: A Systematic Review of Emerging Technologies (MDPI, 2026)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Handling dynamic urban workloads, infrastructure optimization, and scalable service execution (e.g., sensor data processing).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Integration of the computing continuum (IoT, edge-cloud), predictive artificial intelligence models, and serverless infrastructure.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Dominant approaches focus on physical asset optimization and data analytics, leaving significant gaps in integrating direct citizen participation and equitable feedback.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2485663736"/>
                  </a:ext>
                </a:extLst>
              </a:tr>
              <a:tr h="9150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5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Geospatial Sentiment Analysis Using Twitter Data on Natural Disasters (ResearchGate, 2026)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Understanding and categorizing vast volumes of informal public sentiment and differing levels of concern across spatial regions.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Machine learning classification (SVM with varying kernels) combined with geospatial mapping to analyze localized Twitter reactions.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While sentiment analysis measures broad public mood, integrating it with geospatial analysis to effectively pinpoint localized service failures or reactions remains limited.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204" marR="29204" marT="19469" marB="19469" anchor="ctr"/>
                </a:tc>
                <a:extLst>
                  <a:ext uri="{0D108BD9-81ED-4DB2-BD59-A6C34878D82A}">
                    <a16:rowId xmlns:a16="http://schemas.microsoft.com/office/drawing/2014/main" val="33638930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E2A4A"/>
                </a:solidFill>
              </a:rPr>
              <a:t>Collected ≠ understood</a:t>
            </a:r>
            <a:r>
              <a:rPr sz="1800" b="0"/>
              <a:t> — portals store complaints; classifiers label them; </a:t>
            </a:r>
            <a:r>
              <a:rPr sz="1800" b="1">
                <a:solidFill>
                  <a:srgbClr val="E5484D"/>
                </a:solidFill>
              </a:rPr>
              <a:t>nothing produces prioritised, summarised insight</a:t>
            </a:r>
          </a:p>
          <a:p>
            <a:pPr>
              <a:spcAft>
                <a:spcPts val="6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0"/>
              <a:t>No integrated system combines </a:t>
            </a:r>
            <a:r>
              <a:rPr sz="1800" b="1">
                <a:solidFill>
                  <a:srgbClr val="1E2A4A"/>
                </a:solidFill>
              </a:rPr>
              <a:t>classification + priority + generative digest</a:t>
            </a:r>
            <a:r>
              <a:rPr sz="1800" b="0"/>
              <a:t> for municipal grievance data</a:t>
            </a:r>
          </a:p>
          <a:p>
            <a:pPr>
              <a:spcAft>
                <a:spcPts val="6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2B886"/>
                </a:solidFill>
              </a:rPr>
              <a:t>This project's contribution:</a:t>
            </a:r>
          </a:p>
          <a:p>
            <a:pPr lvl="1">
              <a:spcAft>
                <a:spcPts val="600"/>
              </a:spcAft>
              <a:buNone/>
            </a:pPr>
            <a:r>
              <a:rPr sz="1800" b="1">
                <a:solidFill>
                  <a:srgbClr val="5B6478"/>
                </a:solidFill>
              </a:rPr>
              <a:t>–  </a:t>
            </a:r>
            <a:r>
              <a:rPr sz="1800" b="0">
                <a:solidFill>
                  <a:srgbClr val="2B3245"/>
                </a:solidFill>
              </a:rPr>
              <a:t>Complete six-stage pipeline with a trained, cross-validated classifier</a:t>
            </a:r>
          </a:p>
          <a:p>
            <a:pPr lvl="1">
              <a:spcAft>
                <a:spcPts val="600"/>
              </a:spcAft>
              <a:buNone/>
            </a:pPr>
            <a:r>
              <a:rPr sz="1800" b="1">
                <a:solidFill>
                  <a:srgbClr val="5B6478"/>
                </a:solidFill>
              </a:rPr>
              <a:t>–  </a:t>
            </a:r>
            <a:r>
              <a:rPr sz="1800" b="0">
                <a:solidFill>
                  <a:srgbClr val="2B3245"/>
                </a:solidFill>
              </a:rPr>
              <a:t>Explainable priority decisions and paper-style weekly digests</a:t>
            </a:r>
          </a:p>
          <a:p>
            <a:pPr lvl="1">
              <a:spcAft>
                <a:spcPts val="600"/>
              </a:spcAft>
              <a:buNone/>
            </a:pPr>
            <a:r>
              <a:rPr sz="1800" b="1">
                <a:solidFill>
                  <a:srgbClr val="5B6478"/>
                </a:solidFill>
              </a:rPr>
              <a:t>–  </a:t>
            </a:r>
            <a:r>
              <a:rPr sz="1800" b="0">
                <a:solidFill>
                  <a:srgbClr val="2B3245"/>
                </a:solidFill>
              </a:rPr>
              <a:t>PDF / Excel reporting and an officer dashboard, verified end-to-end</a:t>
            </a:r>
          </a:p>
          <a:p>
            <a:pPr>
              <a:spcAft>
                <a:spcPts val="600"/>
              </a:spcAft>
              <a:buNone/>
            </a:pPr>
            <a:r>
              <a:rPr sz="1800" b="1">
                <a:solidFill>
                  <a:srgbClr val="3B5BDB"/>
                </a:solidFill>
              </a:rPr>
              <a:t>•  </a:t>
            </a:r>
            <a:r>
              <a:rPr sz="1800" b="1">
                <a:solidFill>
                  <a:srgbClr val="1E2A4A"/>
                </a:solidFill>
              </a:rPr>
              <a:t>How our work differs: </a:t>
            </a:r>
            <a:r>
              <a:rPr sz="1800" b="0"/>
              <a:t>single integrated system with honest CV accuracy (82.2%) and reproducible tests — not just a classifier or just a tracker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EFAD5F-55BC-F4D0-9E38-9AF5571D9B76}"/>
              </a:ext>
            </a:extLst>
          </p:cNvPr>
          <p:cNvSpPr txBox="1"/>
          <p:nvPr/>
        </p:nvSpPr>
        <p:spPr>
          <a:xfrm>
            <a:off x="467360" y="602605"/>
            <a:ext cx="10393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Existing System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EABE6-A3D5-03F1-76F8-DF906197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680" y="1257515"/>
            <a:ext cx="7017095" cy="51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9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Proposed System — Six-Stage AI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3246120" cy="1005840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 · Data Collection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(portal, app, email, API)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31920" y="2231136"/>
            <a:ext cx="777240" cy="384048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54880" y="1920240"/>
            <a:ext cx="3246120" cy="1005840"/>
          </a:xfrm>
          <a:prstGeom prst="roundRect">
            <a:avLst/>
          </a:prstGeom>
          <a:solidFill>
            <a:srgbClr val="2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2 · Preprocessing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46720" y="2231136"/>
            <a:ext cx="777240" cy="384048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9680" y="1920240"/>
            <a:ext cx="3246120" cy="1005840"/>
          </a:xfrm>
          <a:prstGeom prst="roundRect">
            <a:avLst/>
          </a:prstGeom>
          <a:solidFill>
            <a:srgbClr val="2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3 · Classification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(</a:t>
            </a:r>
            <a:r>
              <a:rPr lang="en-IN" sz="1400" b="1" dirty="0"/>
              <a:t>TF-IDF + </a:t>
            </a:r>
            <a:r>
              <a:rPr lang="en-IN" sz="1400" b="1" dirty="0" err="1"/>
              <a:t>LinearSVC</a:t>
            </a:r>
            <a:r>
              <a:rPr lang="en-IN" dirty="0"/>
              <a:t>,</a:t>
            </a:r>
            <a:r>
              <a:rPr sz="1400" b="1" dirty="0">
                <a:solidFill>
                  <a:srgbClr val="FFFFFF"/>
                </a:solidFill>
              </a:rPr>
              <a:t>5 categories)</a:t>
            </a:r>
          </a:p>
        </p:txBody>
      </p:sp>
      <p:sp>
        <p:nvSpPr>
          <p:cNvPr id="8" name="Down Arrow 7"/>
          <p:cNvSpPr/>
          <p:nvPr/>
        </p:nvSpPr>
        <p:spPr>
          <a:xfrm rot="4658487">
            <a:off x="5934455" y="616905"/>
            <a:ext cx="384048" cy="5999915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3246120" cy="1005840"/>
          </a:xfrm>
          <a:prstGeom prst="roundRect">
            <a:avLst/>
          </a:prstGeom>
          <a:solidFill>
            <a:srgbClr val="2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 · Prioritisation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(High / Medium / Low, explainable)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31920" y="4654296"/>
            <a:ext cx="777240" cy="384048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0" y="4343400"/>
            <a:ext cx="3246120" cy="1005840"/>
          </a:xfrm>
          <a:prstGeom prst="roundRect">
            <a:avLst/>
          </a:prstGeom>
          <a:solidFill>
            <a:srgbClr val="2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 · Summarisation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(weekly AI digests)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46720" y="4654296"/>
            <a:ext cx="777240" cy="384048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69680" y="4343400"/>
            <a:ext cx="3246120" cy="1005840"/>
          </a:xfrm>
          <a:prstGeom prst="roundRect">
            <a:avLst/>
          </a:prstGeom>
          <a:solidFill>
            <a:srgbClr val="2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 · Reports &amp; Dashboard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(PDF, Excel, hotspot charts)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1" dirty="0">
                <a:solidFill>
                  <a:srgbClr val="1E2A4A"/>
                </a:solidFill>
              </a:rPr>
              <a:t>Tech stack: </a:t>
            </a:r>
            <a:r>
              <a:rPr sz="1800" b="0" dirty="0"/>
              <a:t>Python 3.12 · Flask · scikit-learn (TF-IDF + </a:t>
            </a:r>
            <a:r>
              <a:rPr sz="1800" b="0" dirty="0" err="1"/>
              <a:t>LinearSVC</a:t>
            </a:r>
            <a:r>
              <a:rPr sz="1800" b="0" dirty="0"/>
              <a:t>) · NLTK · SQLite · </a:t>
            </a:r>
            <a:r>
              <a:rPr sz="1800" b="0" dirty="0" err="1"/>
              <a:t>reportlab</a:t>
            </a:r>
            <a:r>
              <a:rPr sz="1800" b="0" dirty="0"/>
              <a:t> · </a:t>
            </a:r>
            <a:r>
              <a:rPr sz="1800" b="0" dirty="0" err="1"/>
              <a:t>openpyxl</a:t>
            </a:r>
            <a:endParaRPr sz="1800" b="0" dirty="0"/>
          </a:p>
          <a:p>
            <a:pPr>
              <a:spcAft>
                <a:spcPts val="6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1" dirty="0">
                <a:solidFill>
                  <a:srgbClr val="1E2A4A"/>
                </a:solidFill>
              </a:rPr>
              <a:t>6 modular components (~2,400 LOC)</a:t>
            </a:r>
            <a:r>
              <a:rPr sz="1800" b="0" dirty="0"/>
              <a:t> in a </a:t>
            </a:r>
            <a:r>
              <a:rPr sz="1800" b="0" dirty="0" err="1"/>
              <a:t>civic_sense</a:t>
            </a:r>
            <a:r>
              <a:rPr sz="1800" b="0" dirty="0"/>
              <a:t>/ package + REST API intake</a:t>
            </a:r>
          </a:p>
          <a:p>
            <a:pPr>
              <a:spcAft>
                <a:spcPts val="6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1" dirty="0" err="1">
                <a:solidFill>
                  <a:srgbClr val="1E2A4A"/>
                </a:solidFill>
              </a:rPr>
              <a:t>Prioritisation</a:t>
            </a:r>
            <a:r>
              <a:rPr sz="1800" b="1" dirty="0">
                <a:solidFill>
                  <a:srgbClr val="1E2A4A"/>
                </a:solidFill>
              </a:rPr>
              <a:t> signals (exactly per the paper): </a:t>
            </a:r>
            <a:r>
              <a:rPr sz="1800" b="0" dirty="0"/>
              <a:t>urgency keywords, category risk, emotion, same-ward frequency, age → score with explanation</a:t>
            </a:r>
          </a:p>
          <a:p>
            <a:pPr>
              <a:spcAft>
                <a:spcPts val="6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1" dirty="0">
                <a:solidFill>
                  <a:srgbClr val="1E2A4A"/>
                </a:solidFill>
              </a:rPr>
              <a:t>Duplicate removal: </a:t>
            </a:r>
            <a:r>
              <a:rPr sz="1800" b="0" dirty="0" err="1"/>
              <a:t>normalised</a:t>
            </a:r>
            <a:r>
              <a:rPr sz="1800" b="0" dirty="0"/>
              <a:t>-text similarity ≥ 92% against recent complaints</a:t>
            </a:r>
          </a:p>
          <a:p>
            <a:pPr>
              <a:spcAft>
                <a:spcPts val="6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1" dirty="0">
                <a:solidFill>
                  <a:srgbClr val="1E2A4A"/>
                </a:solidFill>
              </a:rPr>
              <a:t>Weekly digest (paper's style): </a:t>
            </a:r>
            <a:r>
              <a:rPr sz="1800" b="1" dirty="0">
                <a:solidFill>
                  <a:srgbClr val="3B5BDB"/>
                </a:solidFill>
              </a:rPr>
              <a:t>"</a:t>
            </a:r>
            <a:r>
              <a:rPr lang="en-US" sz="1800" b="1" dirty="0">
                <a:solidFill>
                  <a:srgbClr val="3B5BDB"/>
                </a:solidFill>
              </a:rPr>
              <a:t>&lt;Area&gt;</a:t>
            </a:r>
            <a:r>
              <a:rPr sz="1800" b="1" dirty="0">
                <a:solidFill>
                  <a:srgbClr val="3B5BDB"/>
                </a:solidFill>
              </a:rPr>
              <a:t>recorded 24 complaints… 46% High Priority — needs immediate attention"</a:t>
            </a:r>
          </a:p>
          <a:p>
            <a:pPr>
              <a:spcAft>
                <a:spcPts val="600"/>
              </a:spcAft>
              <a:buNone/>
            </a:pPr>
            <a:r>
              <a:rPr sz="1800" b="1" dirty="0">
                <a:solidFill>
                  <a:srgbClr val="3B5BDB"/>
                </a:solidFill>
              </a:rPr>
              <a:t>•  </a:t>
            </a:r>
            <a:r>
              <a:rPr sz="1800" b="1" dirty="0">
                <a:solidFill>
                  <a:srgbClr val="1E2A4A"/>
                </a:solidFill>
              </a:rPr>
              <a:t>Optional </a:t>
            </a:r>
            <a:r>
              <a:rPr sz="1800" b="1">
                <a:solidFill>
                  <a:srgbClr val="1E2A4A"/>
                </a:solidFill>
              </a:rPr>
              <a:t>upgrades:</a:t>
            </a:r>
            <a:r>
              <a:rPr lang="en-US" sz="1800" b="1">
                <a:solidFill>
                  <a:srgbClr val="1E2A4A"/>
                </a:solidFill>
              </a:rPr>
              <a:t> </a:t>
            </a:r>
            <a:r>
              <a:rPr sz="1800" b="0"/>
              <a:t>DistilBERT</a:t>
            </a:r>
            <a:r>
              <a:rPr sz="1800" b="0" dirty="0"/>
              <a:t> classifier · GPT-4o digests (OPENAI_API_KEY)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Tech Stack &amp;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Python 3.12 · Flask · scikit-learn · SQLite · NLTK · ReportLab · openpyxl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931920" cy="4495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Backend framework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Flask 2.3 — REST API + server-rendered dashboard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Single-process dev server; production-ready paths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endParaRPr sz="1400" b="1" dirty="0">
              <a:solidFill>
                <a:srgbClr val="E86A17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Core ML libraries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scikit-learn 1.3 — TF-IDF +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LinearSVC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classifier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NLTK 3.8 —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tokenisation</a:t>
            </a:r>
            <a:r>
              <a:rPr sz="1400" dirty="0">
                <a:solidFill>
                  <a:srgbClr val="333333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stopwords</a:t>
            </a:r>
            <a:r>
              <a:rPr sz="1400" dirty="0">
                <a:solidFill>
                  <a:srgbClr val="333333"/>
                </a:solidFill>
                <a:latin typeface="Calibri"/>
              </a:rPr>
              <a:t>, sentiment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pandas 2.0 — report aggregation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endParaRPr sz="1400" b="1" dirty="0">
              <a:solidFill>
                <a:srgbClr val="E86A17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Reporting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reportlab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4.0 — PDF weekly digests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openpyxl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3.1 — Excel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173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Data layer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SQLite — zero-config local DB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Stores complaints, reports, fraud alerts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Deterministic seed data (200 complaints)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endParaRPr sz="1400" b="1" dirty="0">
              <a:solidFill>
                <a:srgbClr val="00838F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Offline-first design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No external API required for core pipeline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Graceful degradation when torch absent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Weekly digest fully offline (template engine)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 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Configuration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USE_TRANSFORMERS=1 — opt into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DistilBERT</a:t>
            </a:r>
            <a:endParaRPr sz="14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OPENAI_API_KEY — opt into LLM digest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All knobs in civic_sense/config.py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PyTorch Environment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Diagnosing &amp; resolving the transformers / torch version mismatch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931920" cy="2350008"/>
          </a:xfrm>
          <a:prstGeom prst="rect">
            <a:avLst/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2828"/>
                </a:solidFill>
                <a:latin typeface="Calibri"/>
              </a:rPr>
              <a:t>⚑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794760" cy="204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transformers 5.19.0 requires PyTorch ≥ 2.5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Installed: torch 2.2.0+cpu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transformers disabled PyTorch at import time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Message: "PyTorch not found. Models won't be available"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torchvision 0.17.0 pinned to torch==2.2.0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torchaudio dev build pinned to torch==2.6.0.dev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371600"/>
            <a:ext cx="39319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✓  THE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83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Upgraded torch: 2.2.0 → 2.14.1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Replaced torchvision: 0.17.0 → 0.29.1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Replaced torchaudio: 2.5.0.dev → 2.11.0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All three now compatible with transformers 5.19.0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pip dependency resolver warnings cleared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39" y="3840480"/>
            <a:ext cx="8870663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913632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Calibri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8733502" cy="1894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transformers pipeline import: OK —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DistilBERT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model loads successfully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torch.__version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__ = 2.14.1+cpu  · 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torchvision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0.29.1  · 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torchaudio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2.11.0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Smoke test: 29 / 29 tests PASSED, exit code 0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Project runs on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sklearn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fallback by default (82.2% accuracy) — as designed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Set USE_TRANSFORMERS=1 to activate the zero-shot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DistilBERT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classifier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Known limitation: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DistilBERT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init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fails on this Windows box (c10.dll DLL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init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error) — environment-specific, not a version issue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Full Pipeline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Six stages from raw submission to actionable insight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89888"/>
            <a:ext cx="457200" cy="457200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71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6A17"/>
                </a:solidFill>
                <a:latin typeface="Calibri"/>
              </a:rP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Web form + REST API (/api/complaints). Validates ward &amp; source against domain constants. Every intake path runs the same pipeline so results never drift.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31136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128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38F"/>
                </a:solidFill>
                <a:latin typeface="Calibri"/>
              </a:rPr>
              <a:t>Preprocessing &amp; Duplicate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87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Normalises text, tokenises, detects locality-aware duplicates (same ward + same category, similarity ≥ 0.92). Returns duplicate_of + ratio.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5409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6A17"/>
                </a:solidFill>
                <a:latin typeface="Calibri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28415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TF-IDF + LinearSVC (82.2% 5-fold CV) into 5 paper categories: Roads, Electricity, Water Supply, Waste Management, Public Safety. Optional DistilBERT via USE_TRANSFORMERS=1.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13631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953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38F"/>
                </a:solidFill>
                <a:latin typeface="Calibri"/>
              </a:rPr>
              <a:t>Fraud Risk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69663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Independent of dedup. Scores text similarity, submission frequency, category risk, emotion signals. Produces fraud_score, fraud_level (Low/Medium/High), fraud_explanation.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754879"/>
            <a:ext cx="457200" cy="457200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365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6A17"/>
                </a:solidFill>
                <a:latin typeface="Calibri"/>
              </a:rPr>
              <a:t>Incident Clustering +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1091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Groups fragmented reports of the same incident. Weighted priority from urgency keywords, category risk, emotion, ward frequency, complaint age + cluster boost.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96127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77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38F"/>
                </a:solidFill>
                <a:latin typeface="Calibri"/>
              </a:rPr>
              <a:t>Reporting &amp; Digest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8521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Weekly narrative digest (offline template or LLM), PDF + Excel export. Dashboard cards: Fraud Alerts, Incident Hotspots, trend &amp; ward breakdowns.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Classifier: TF-IDF + LinearSVC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Primary model · 82.2% stratified 5-fold cross-validation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66666"/>
                </a:solidFill>
                <a:latin typeface="Calibri"/>
              </a:rPr>
              <a:t>Training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931920" cy="342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150 curated realistic complaints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30 per category (5 categories)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Lexically distinctive vocab per class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 • Roads: pothole, footpath, tar, speed breaker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 • Electricity: streetlight, transformer, voltage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 • Water Supply: tanker, borewell, pressure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 • Waste Management: garbage, sanitation, compost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 • Public Safety: manhole, sewage, stray dogs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endParaRPr sz="1300" b="1" dirty="0">
              <a:solidFill>
                <a:srgbClr val="E86A17"/>
              </a:solidFill>
              <a:latin typeface="Calibri"/>
            </a:endParaRP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Pipeline: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TfidfVectorizer</a:t>
            </a:r>
            <a:r>
              <a:rPr sz="1300" dirty="0">
                <a:solidFill>
                  <a:srgbClr val="333333"/>
                </a:solidFill>
                <a:latin typeface="Calibri"/>
              </a:rPr>
              <a:t>(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ngram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1–2,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sublinear_tf</a:t>
            </a:r>
            <a:r>
              <a:rPr sz="1300" dirty="0">
                <a:solidFill>
                  <a:srgbClr val="333333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min_df</a:t>
            </a:r>
            <a:r>
              <a:rPr sz="1300" dirty="0">
                <a:solidFill>
                  <a:srgbClr val="333333"/>
                </a:solidFill>
                <a:latin typeface="Calibri"/>
              </a:rPr>
              <a:t>=1)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LinearSVC</a:t>
            </a:r>
            <a:r>
              <a:rPr sz="1300" dirty="0">
                <a:solidFill>
                  <a:srgbClr val="333333"/>
                </a:solidFill>
                <a:latin typeface="Calibri"/>
              </a:rPr>
              <a:t>(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class_weight</a:t>
            </a:r>
            <a:r>
              <a:rPr sz="1300" dirty="0">
                <a:solidFill>
                  <a:srgbClr val="333333"/>
                </a:solidFill>
                <a:latin typeface="Calibri"/>
              </a:rPr>
              <a:t>=balanced, C=1.0, dual=auto)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1325880"/>
            <a:ext cx="4304071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Calibri"/>
              </a:rPr>
              <a:t>Cross-validation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3736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2E7D32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Stratified 5-fold CV (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sklearn</a:t>
            </a:r>
            <a:r>
              <a:rPr sz="130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2E7D32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Mean accuracy: 82.2%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2E7D32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Std dev: ~1.5% across folds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2E7D32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All 5 categories separable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2E7D32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Softmax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over decision margins → confidence ∈ [0,1]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 dirty="0">
                <a:solidFill>
                  <a:srgbClr val="2E7D32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Graceful fallback: Roads @ 0.0 if model errors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3657600"/>
            <a:ext cx="3931920" cy="2377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8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730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38F"/>
                </a:solidFill>
                <a:latin typeface="Calibri"/>
              </a:rPr>
              <a:t>Why not 93% (paper)?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069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Paper used a larger, domain-specific corpus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This demo: 150 samples vs. larger dataset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English-only; no data augmentation yet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Gap is expected &amp; documented — not a defect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Transformer path (DistilBERT) would narrow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Optional DistilBERT Transformer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Zero-shot classification via HuggingFace transformers — mirrors the paper's BERT-family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How to enable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Set USE_TRANSFORMERS=1 in config.py or env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Model: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distilbert</a:t>
            </a:r>
            <a:r>
              <a:rPr sz="1400" dirty="0">
                <a:solidFill>
                  <a:srgbClr val="333333"/>
                </a:solidFill>
                <a:latin typeface="Calibri"/>
              </a:rPr>
              <a:t>-base-uncased (configurable)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Loaded lazily on first classification request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endParaRPr sz="1400" b="1" dirty="0">
              <a:solidFill>
                <a:srgbClr val="E86A17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Zero-shot pipeline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HuggingFace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pipeline('zero-shot-classification')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Candidate labels = the 5 paper categories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Multi-label = False (single category per complaint)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Truncates input to 512 tokens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endParaRPr sz="1400" b="1" dirty="0">
              <a:solidFill>
                <a:srgbClr val="E86A17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Paper alignment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Base paper uses BERT/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DistilBERT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family</a:t>
            </a:r>
          </a:p>
          <a:p>
            <a:pPr>
              <a:lnSpc>
                <a:spcPct val="128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This path mirrors that architecture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71600"/>
            <a:ext cx="39319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Higher accuracy on ambiguous phrasing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Better zero-shot generalisation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Semantic understanding vs. keyword overlap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Narrows the gap to paper's ~93%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599" y="3794760"/>
            <a:ext cx="4776019" cy="2286000"/>
          </a:xfrm>
          <a:prstGeom prst="rect">
            <a:avLst/>
          </a:prstGeom>
          <a:solidFill>
            <a:srgbClr val="FDECEC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3867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2828"/>
                </a:solidFill>
                <a:latin typeface="Calibri"/>
              </a:rPr>
              <a:t>Trade-offs &amp; current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206240"/>
            <a:ext cx="4520872" cy="1744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 dirty="0">
                <a:solidFill>
                  <a:srgbClr val="C62828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Heavy dependency: torch + transformers + sentence-transformers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 dirty="0">
                <a:solidFill>
                  <a:srgbClr val="C62828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Requires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PyTorch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≥ 2.5 (fixed in this env)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 dirty="0">
                <a:solidFill>
                  <a:srgbClr val="C62828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Slower first inference (model download + load)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 dirty="0">
                <a:solidFill>
                  <a:srgbClr val="C62828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Currently degraded on this machine: c10.dll DLL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init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error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300" b="1" dirty="0">
                <a:solidFill>
                  <a:srgbClr val="C62828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App degrades gracefully to 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sklearn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when unavailable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Fraud Detection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Independent risk scoring — separate from duplicate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931920" cy="4406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What it scores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Text similarity to other reports (possible spam bot)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Unusual submission volume in time window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High-risk category (electricity hazards, gas leaks)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Emotional / urgency language signals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Repeated reports from same ward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endParaRPr sz="1400" b="1" dirty="0">
              <a:solidFill>
                <a:srgbClr val="E86A17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Outputs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fraud_score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— numeric risk (0–100)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fraud_level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— Low / Medium / High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fraud_explanation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— human-readable breakdown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Persisted to DB + returned in API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371600"/>
            <a:ext cx="3931920" cy="4830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Design principle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Fraud scoring is intentionally separate from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duplicate detection — different signals,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different purpose, wired into both paths: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 • Web form (POST /complaints/new)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 • REST API (POST /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api</a:t>
            </a:r>
            <a:r>
              <a:rPr sz="1400" dirty="0">
                <a:solidFill>
                  <a:srgbClr val="333333"/>
                </a:solidFill>
                <a:latin typeface="Calibri"/>
              </a:rPr>
              <a:t>/complaints)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endParaRPr sz="1400" b="1" dirty="0">
              <a:solidFill>
                <a:srgbClr val="00838F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Demo scenarios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Fraud-alert burst → Medium risk (50.0)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Incident-hotspot cluster → flagging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200 seeded complaints include both</a:t>
            </a:r>
            <a:endParaRPr lang="en-US" sz="14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 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Config knobs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FREQ_THRESHOLD, SIM_THRESHOLD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 dirty="0">
                <a:solidFill>
                  <a:srgbClr val="00838F"/>
                </a:solidFill>
                <a:latin typeface="Calibri"/>
              </a:rPr>
              <a:t>▪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in civic_sense/fraud_detector.py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System Architecture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Flask app · modular civic_sense package · SQLite · local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145584-4788-B8A9-71AB-06344A2BF905}"/>
              </a:ext>
            </a:extLst>
          </p:cNvPr>
          <p:cNvGrpSpPr/>
          <p:nvPr/>
        </p:nvGrpSpPr>
        <p:grpSpPr>
          <a:xfrm>
            <a:off x="1992521" y="1959421"/>
            <a:ext cx="8206957" cy="274320"/>
            <a:chOff x="1992521" y="2331720"/>
            <a:chExt cx="8206957" cy="274320"/>
          </a:xfrm>
        </p:grpSpPr>
        <p:sp>
          <p:nvSpPr>
            <p:cNvPr id="8" name="Right Arrow 7"/>
            <p:cNvSpPr/>
            <p:nvPr/>
          </p:nvSpPr>
          <p:spPr>
            <a:xfrm>
              <a:off x="1992521" y="2331720"/>
              <a:ext cx="164592" cy="274320"/>
            </a:xfrm>
            <a:prstGeom prst="rightArrow">
              <a:avLst/>
            </a:pr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600994" y="2331720"/>
              <a:ext cx="164592" cy="274320"/>
            </a:xfrm>
            <a:prstGeom prst="rightArrow">
              <a:avLst/>
            </a:pr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209467" y="2331720"/>
              <a:ext cx="164592" cy="274320"/>
            </a:xfrm>
            <a:prstGeom prst="rightArrow">
              <a:avLst/>
            </a:pr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6817940" y="2331720"/>
              <a:ext cx="164592" cy="274320"/>
            </a:xfrm>
            <a:prstGeom prst="rightArrow">
              <a:avLst/>
            </a:pr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426413" y="2331720"/>
              <a:ext cx="164592" cy="274320"/>
            </a:xfrm>
            <a:prstGeom prst="rightArrow">
              <a:avLst/>
            </a:pr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ight Arrow 17"/>
            <p:cNvSpPr/>
            <p:nvPr/>
          </p:nvSpPr>
          <p:spPr>
            <a:xfrm>
              <a:off x="10034886" y="2331720"/>
              <a:ext cx="164592" cy="274320"/>
            </a:xfrm>
            <a:prstGeom prst="rightArrow">
              <a:avLst/>
            </a:prstGeom>
            <a:solidFill>
              <a:srgbClr val="BBB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4D93E31-CF31-19E8-2632-38C13E22C0A3}"/>
              </a:ext>
            </a:extLst>
          </p:cNvPr>
          <p:cNvGrpSpPr/>
          <p:nvPr/>
        </p:nvGrpSpPr>
        <p:grpSpPr>
          <a:xfrm>
            <a:off x="548640" y="1399032"/>
            <a:ext cx="11094719" cy="1280160"/>
            <a:chOff x="548640" y="1828800"/>
            <a:chExt cx="11094719" cy="1280160"/>
          </a:xfrm>
        </p:grpSpPr>
        <p:sp>
          <p:nvSpPr>
            <p:cNvPr id="7" name="Rounded Rectangle 6"/>
            <p:cNvSpPr/>
            <p:nvPr/>
          </p:nvSpPr>
          <p:spPr>
            <a:xfrm>
              <a:off x="548640" y="1828800"/>
              <a:ext cx="1443881" cy="1280160"/>
            </a:xfrm>
            <a:prstGeom prst="roundRect">
              <a:avLst/>
            </a:prstGeom>
            <a:solidFill>
              <a:srgbClr val="E86A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Calibri"/>
                </a:rPr>
                <a:t>Citizen</a:t>
              </a:r>
            </a:p>
            <a:p>
              <a:pPr algn="ctr"/>
              <a:r>
                <a:rPr sz="900">
                  <a:solidFill>
                    <a:srgbClr val="EEEEEE"/>
                  </a:solidFill>
                  <a:latin typeface="Calibri"/>
                </a:rPr>
                <a:t>Web form / App / Email /
Call centre / API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7113" y="1828800"/>
              <a:ext cx="1443881" cy="1280160"/>
            </a:xfrm>
            <a:prstGeom prst="roundRect">
              <a:avLst/>
            </a:prstGeom>
            <a:solidFill>
              <a:srgbClr val="0B2E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Calibri"/>
                </a:rPr>
                <a:t>Flask App</a:t>
              </a:r>
            </a:p>
            <a:p>
              <a:pPr algn="ctr"/>
              <a:r>
                <a:rPr sz="900">
                  <a:solidFill>
                    <a:srgbClr val="EEEEEE"/>
                  </a:solidFill>
                  <a:latin typeface="Calibri"/>
                </a:rPr>
                <a:t>app.py
Router + pipeline glue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765586" y="1828800"/>
              <a:ext cx="1443881" cy="1280160"/>
            </a:xfrm>
            <a:prstGeom prst="roundRect">
              <a:avLst/>
            </a:prstGeom>
            <a:solidFill>
              <a:srgbClr val="0083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Calibri"/>
                </a:rPr>
                <a:t>Preprocessing</a:t>
              </a:r>
            </a:p>
            <a:p>
              <a:pPr algn="ctr"/>
              <a:r>
                <a:rPr sz="900">
                  <a:solidFill>
                    <a:srgbClr val="EEEEEE"/>
                  </a:solidFill>
                  <a:latin typeface="Calibri"/>
                </a:rPr>
                <a:t>Duplicate detection
Normalisation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374059" y="1828800"/>
              <a:ext cx="1443881" cy="1280160"/>
            </a:xfrm>
            <a:prstGeom prst="roundRect">
              <a:avLst/>
            </a:prstGeom>
            <a:solidFill>
              <a:srgbClr val="E86A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rtlCol="0" anchor="ctr"/>
            <a:lstStyle/>
            <a:p>
              <a:pPr algn="ctr"/>
              <a:r>
                <a:rPr sz="1200" b="1" dirty="0">
                  <a:solidFill>
                    <a:srgbClr val="FFFFFF"/>
                  </a:solidFill>
                  <a:latin typeface="Calibri"/>
                </a:rPr>
                <a:t>Classifier</a:t>
              </a:r>
            </a:p>
            <a:p>
              <a:pPr algn="ctr"/>
              <a:r>
                <a:rPr sz="900" dirty="0">
                  <a:solidFill>
                    <a:srgbClr val="EEEEEE"/>
                  </a:solidFill>
                  <a:latin typeface="Calibri"/>
                </a:rPr>
                <a:t>TF-IDF + </a:t>
              </a:r>
              <a:r>
                <a:rPr sz="900" dirty="0" err="1">
                  <a:solidFill>
                    <a:srgbClr val="EEEEEE"/>
                  </a:solidFill>
                  <a:latin typeface="Calibri"/>
                </a:rPr>
                <a:t>LinearSVC</a:t>
              </a:r>
              <a:r>
                <a:rPr sz="900" dirty="0">
                  <a:solidFill>
                    <a:srgbClr val="EEEEEE"/>
                  </a:solidFill>
                  <a:latin typeface="Calibri"/>
                </a:rPr>
                <a:t>
(optional </a:t>
              </a:r>
              <a:r>
                <a:rPr sz="900" dirty="0" err="1">
                  <a:solidFill>
                    <a:srgbClr val="EEEEEE"/>
                  </a:solidFill>
                  <a:latin typeface="Calibri"/>
                </a:rPr>
                <a:t>DistilBERT</a:t>
              </a:r>
              <a:r>
                <a:rPr sz="900" dirty="0">
                  <a:solidFill>
                    <a:srgbClr val="EEEEEE"/>
                  </a:solidFill>
                  <a:latin typeface="Calibri"/>
                </a:rPr>
                <a:t>)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982532" y="1828800"/>
              <a:ext cx="1443881" cy="1280160"/>
            </a:xfrm>
            <a:prstGeom prst="roundRect">
              <a:avLst/>
            </a:prstGeom>
            <a:solidFill>
              <a:srgbClr val="0083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Calibri"/>
                </a:rPr>
                <a:t>Fraud + Priority</a:t>
              </a:r>
            </a:p>
            <a:p>
              <a:pPr algn="ctr"/>
              <a:r>
                <a:rPr sz="900">
                  <a:solidFill>
                    <a:srgbClr val="EEEEEE"/>
                  </a:solidFill>
                  <a:latin typeface="Calibri"/>
                </a:rPr>
                <a:t>Fraud scoring
Weighted priority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591005" y="1828800"/>
              <a:ext cx="1443881" cy="1280160"/>
            </a:xfrm>
            <a:prstGeom prst="roundRect">
              <a:avLst/>
            </a:prstGeom>
            <a:solidFill>
              <a:srgbClr val="0B2E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Calibri"/>
                </a:rPr>
                <a:t>SQLite DB</a:t>
              </a:r>
            </a:p>
            <a:p>
              <a:pPr algn="ctr"/>
              <a:r>
                <a:rPr sz="900">
                  <a:solidFill>
                    <a:srgbClr val="EEEEEE"/>
                  </a:solidFill>
                  <a:latin typeface="Calibri"/>
                </a:rPr>
                <a:t>civicsense.db
Persist everything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199478" y="1828800"/>
              <a:ext cx="1443881" cy="1280160"/>
            </a:xfrm>
            <a:prstGeom prst="roundRect">
              <a:avLst/>
            </a:prstGeom>
            <a:solidFill>
              <a:srgbClr val="E86A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Calibri"/>
                </a:rPr>
                <a:t>Reports</a:t>
              </a:r>
            </a:p>
            <a:p>
              <a:pPr algn="ctr"/>
              <a:r>
                <a:rPr sz="900">
                  <a:solidFill>
                    <a:srgbClr val="EEEEEE"/>
                  </a:solidFill>
                  <a:latin typeface="Calibri"/>
                </a:rPr>
                <a:t>PDF + Excel
Weekly digest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48640" y="2839761"/>
            <a:ext cx="8229600" cy="39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b="1" dirty="0">
                <a:solidFill>
                  <a:srgbClr val="333333"/>
                </a:solidFill>
                <a:latin typeface="Calibri"/>
              </a:rPr>
              <a:t>Deployment model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python app.py → http://127.0.0.1:5000 (Flask dev server)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Zero external services required — runs fully offline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SQLite file: data/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civicsense.db</a:t>
            </a:r>
            <a:r>
              <a:rPr sz="1300" dirty="0">
                <a:solidFill>
                  <a:srgbClr val="333333"/>
                </a:solidFill>
                <a:latin typeface="Calibri"/>
              </a:rPr>
              <a:t> (auto-created on first run)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sz="1300" b="1" dirty="0">
              <a:solidFill>
                <a:srgbClr val="E86A17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b="1" dirty="0">
                <a:solidFill>
                  <a:srgbClr val="333333"/>
                </a:solidFill>
                <a:latin typeface="Calibri"/>
              </a:rPr>
              <a:t>Module layout (~2,400 LOC)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civic_sense/classifier.py — model training + load + classify wrapper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civic_sense/preprocessing.py — duplicate detection + incident clustering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civic_sense/prioritizer.py — weighted priority + explanation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civic_sense/fraud_detector.py — independent fraud risk scoring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civic_sense/reports.py — PDF &amp; Excel generation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civic_sense/summarizer.py — weekly digest narrative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civic_sense/seed_data.py — 200 deterministic demo complaints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dirty="0">
                <a:solidFill>
                  <a:srgbClr val="E86A17"/>
                </a:solidFill>
                <a:latin typeface="Calibri"/>
              </a:rPr>
              <a:t>▪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civic_sense/config.py — all tunable knobs + domain constants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Updated Results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FDBEC"/>
                </a:solidFill>
                <a:latin typeface="Calibri"/>
              </a:rPr>
              <a:t>End-to-end smoke test · 29/29 passed · exit code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 b="1">
                <a:solidFill>
                  <a:srgbClr val="333333"/>
                </a:solidFill>
                <a:latin typeface="Calibri"/>
              </a:rPr>
              <a:t>Smoke test coverage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Classifier: 5 category predictions correct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Dashboard: GET /, /complaints, /reports, /pipeline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Filtering: category, priority, ward, status, query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Intake: web form + REST API (201 created)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Fraud: fields in API response + persisted to DB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Reports: generate, view, PDF, Excel export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Status workflow: Open → Resolved → Open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Duplicates: 2 identical submissions → ratio 1.0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Digest: mentions locality + 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71600"/>
            <a:ext cx="393192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Calibri"/>
              </a:rPr>
              <a:t>Key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B2E4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Classifier accuracy: 82.2% (5-fold CV)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B2E4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Smoke test: 29 / 29 PASSED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B2E4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Demo seed: 200 complaints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B2E4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5 categories · 10 wards · 5 sources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B2E4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3 priority tiers: High / Medium / Low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B2E4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PDF + Excel exports working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3703320"/>
            <a:ext cx="3931920" cy="2377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8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3776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38F"/>
                </a:solidFill>
                <a:latin typeface="Calibri"/>
              </a:rPr>
              <a:t>Environment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torch 2.14.1 · torchvision 0.29.1 · torchaudio 2.11.0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transformers 5.19.0 pipeline loads OK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PyTorch ≥ 2.5 requirement satisfied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Dependency conflicts resolved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App runs on sklearn by default (stable)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1">
                <a:solidFill>
                  <a:srgbClr val="00838F"/>
                </a:solidFill>
                <a:latin typeface="Calibri"/>
              </a:rPr>
              <a:t>▪  </a:t>
            </a:r>
            <a:r>
              <a:rPr sz="1300">
                <a:solidFill>
                  <a:srgbClr val="333333"/>
                </a:solidFill>
                <a:latin typeface="Calibri"/>
              </a:rPr>
              <a:t>DistilBERT opt-in via USE_TRANSFORMERS=1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CivicSense — AI-Based Citizen Complaint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196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BCC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52120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Classification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82.2% ± 5.5% (5-fold 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Priority split (H/M/L)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68 / 94 / 22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Duplicates 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29 of 184 (16%)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End-to-end tests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25 / 25 passing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Paper examples classified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5 / 5 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928607"/>
              </p:ext>
            </p:extLst>
          </p:nvPr>
        </p:nvGraphicFramePr>
        <p:xfrm>
          <a:off x="6263640" y="1920240"/>
          <a:ext cx="53949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Base paper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This project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82.2% (conservative 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Model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BERT/DistilBERT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TF-IDF+SVM (+ optional)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H/M/L (rule+AI)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Explainable H/M/L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Reports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PDF / Excel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PDF + Excel (verified)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Digest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"Ward 5: 42 road…"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/>
                        <a:t>Locality</a:t>
                      </a:r>
                      <a:endParaRPr sz="1100" b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Conclusion, Future Work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700" b="1" dirty="0">
                <a:solidFill>
                  <a:srgbClr val="3B5BDB"/>
                </a:solidFill>
              </a:rPr>
              <a:t>•  </a:t>
            </a:r>
            <a:r>
              <a:rPr sz="1700" b="1" dirty="0">
                <a:solidFill>
                  <a:srgbClr val="1E2A4A"/>
                </a:solidFill>
              </a:rPr>
              <a:t>Delivered a complete, working implementation of </a:t>
            </a:r>
            <a:r>
              <a:rPr sz="1700" b="1" dirty="0" err="1">
                <a:solidFill>
                  <a:srgbClr val="1E2A4A"/>
                </a:solidFill>
              </a:rPr>
              <a:t>CivicSense</a:t>
            </a:r>
            <a:r>
              <a:rPr sz="1700" b="0" dirty="0"/>
              <a:t> — all six stages, verified end-to-end</a:t>
            </a:r>
          </a:p>
          <a:p>
            <a:pPr>
              <a:spcAft>
                <a:spcPts val="700"/>
              </a:spcAft>
              <a:buNone/>
            </a:pPr>
            <a:r>
              <a:rPr sz="1700" b="1" dirty="0">
                <a:solidFill>
                  <a:srgbClr val="3B5BDB"/>
                </a:solidFill>
              </a:rPr>
              <a:t>•  </a:t>
            </a:r>
            <a:r>
              <a:rPr sz="1700" b="1" dirty="0">
                <a:solidFill>
                  <a:srgbClr val="1E2A4A"/>
                </a:solidFill>
              </a:rPr>
              <a:t>Outcomes: </a:t>
            </a:r>
            <a:r>
              <a:rPr sz="1700" b="0" dirty="0"/>
              <a:t>82.2% CV accuracy, realistic priorities, 29 duplicates caught, working PDF/Excel digests</a:t>
            </a:r>
          </a:p>
          <a:p>
            <a:pPr>
              <a:spcAft>
                <a:spcPts val="700"/>
              </a:spcAft>
              <a:buNone/>
            </a:pPr>
            <a:r>
              <a:rPr sz="1700" b="1" dirty="0">
                <a:solidFill>
                  <a:srgbClr val="3B5BDB"/>
                </a:solidFill>
              </a:rPr>
              <a:t>•  </a:t>
            </a:r>
            <a:r>
              <a:rPr sz="1700" b="1" dirty="0">
                <a:solidFill>
                  <a:srgbClr val="E5484D"/>
                </a:solidFill>
              </a:rPr>
              <a:t>Limitations: </a:t>
            </a:r>
            <a:r>
              <a:rPr sz="1700" b="0" dirty="0"/>
              <a:t>accuracy gap vs 93% (smaller corpus), English-only, synthetic demo data</a:t>
            </a:r>
          </a:p>
          <a:p>
            <a:pPr>
              <a:spcAft>
                <a:spcPts val="700"/>
              </a:spcAft>
              <a:buNone/>
            </a:pPr>
            <a:r>
              <a:rPr sz="1700" b="1" dirty="0">
                <a:solidFill>
                  <a:srgbClr val="3B5BDB"/>
                </a:solidFill>
              </a:rPr>
              <a:t>•  </a:t>
            </a:r>
            <a:r>
              <a:rPr sz="1700" b="1" dirty="0">
                <a:solidFill>
                  <a:srgbClr val="12B886"/>
                </a:solidFill>
              </a:rPr>
              <a:t>Future work: </a:t>
            </a:r>
            <a:r>
              <a:rPr sz="1700" b="0" dirty="0"/>
              <a:t>multilingual support, predictive </a:t>
            </a:r>
            <a:r>
              <a:rPr sz="1700" b="0" dirty="0" err="1"/>
              <a:t>analytics,</a:t>
            </a:r>
            <a:r>
              <a:rPr lang="en-US" sz="1700" b="0" dirty="0" err="1"/>
              <a:t>mobile</a:t>
            </a:r>
            <a:r>
              <a:rPr lang="en-US" sz="1700" b="0" dirty="0"/>
              <a:t> application</a:t>
            </a:r>
            <a:r>
              <a:rPr sz="1700" b="0" dirty="0"/>
              <a:t>, citizen feedback loops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1E2A4A"/>
                </a:solidFill>
              </a:rPr>
              <a:t>References</a:t>
            </a:r>
          </a:p>
          <a:p>
            <a:pPr lvl="1">
              <a:spcAft>
                <a:spcPts val="400"/>
              </a:spcAft>
            </a:pPr>
            <a:r>
              <a:rPr sz="1150" b="0" dirty="0">
                <a:solidFill>
                  <a:srgbClr val="2B3245"/>
                </a:solidFill>
              </a:rPr>
              <a:t>Aakash P. et al., "</a:t>
            </a:r>
            <a:r>
              <a:rPr sz="1150" b="0" dirty="0" err="1">
                <a:solidFill>
                  <a:srgbClr val="2B3245"/>
                </a:solidFill>
              </a:rPr>
              <a:t>CivicSense</a:t>
            </a:r>
            <a:r>
              <a:rPr sz="1150" b="0" dirty="0">
                <a:solidFill>
                  <a:srgbClr val="2B3245"/>
                </a:solidFill>
              </a:rPr>
              <a:t>: AI-Based Citizen Complaint Analyzer," GCSESEIC 2025, Advances in Engineering Research 297, Atlantis Press. DOI: 10.2991/978-94-6239-654-8_43</a:t>
            </a:r>
          </a:p>
          <a:p>
            <a:pPr lvl="1">
              <a:spcAft>
                <a:spcPts val="400"/>
              </a:spcAft>
            </a:pPr>
            <a:r>
              <a:rPr sz="1150" b="0" dirty="0">
                <a:solidFill>
                  <a:srgbClr val="2B3245"/>
                </a:solidFill>
              </a:rPr>
              <a:t>Devlin J. et al., "BERT: Pre-training of Deep Bidirectional Transformers for Language Understanding," NAACL-HLT, 2019.</a:t>
            </a:r>
          </a:p>
          <a:p>
            <a:pPr lvl="1">
              <a:spcAft>
                <a:spcPts val="400"/>
              </a:spcAft>
            </a:pPr>
            <a:r>
              <a:rPr sz="1150" b="0" dirty="0">
                <a:solidFill>
                  <a:srgbClr val="2B3245"/>
                </a:solidFill>
              </a:rPr>
              <a:t>Pedregosa F. et al., "Scikit-learn: Machine Learning in Python," JMLR 12, 2011.</a:t>
            </a:r>
          </a:p>
          <a:p>
            <a:pPr lvl="1">
              <a:spcAft>
                <a:spcPts val="400"/>
              </a:spcAft>
            </a:pPr>
            <a:r>
              <a:rPr sz="1150" b="0" dirty="0">
                <a:solidFill>
                  <a:srgbClr val="2B3245"/>
                </a:solidFill>
              </a:rPr>
              <a:t>Bird S., Klein E., Loper E., "Natural Language Processing with Python," O'Reilly, 2009.</a:t>
            </a:r>
          </a:p>
          <a:p>
            <a:pPr algn="ctr">
              <a:spcAft>
                <a:spcPts val="0"/>
              </a:spcAft>
            </a:pPr>
            <a:r>
              <a:rPr sz="1800" b="1" dirty="0">
                <a:solidFill>
                  <a:srgbClr val="3B5BDB"/>
                </a:solidFill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3398</Words>
  <Application>Microsoft Office PowerPoint</Application>
  <PresentationFormat>Widescreen</PresentationFormat>
  <Paragraphs>393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Google Sans Text</vt:lpstr>
      <vt:lpstr>Office Theme</vt:lpstr>
      <vt:lpstr>Artificial Intelligence and Data Science CivicSense: AI-Based Citizen Complaint Analyzer</vt:lpstr>
      <vt:lpstr>Content:</vt:lpstr>
      <vt:lpstr>Introduction</vt:lpstr>
      <vt:lpstr>Problem Statement</vt:lpstr>
      <vt:lpstr>Objectives</vt:lpstr>
      <vt:lpstr>Base Paper Details</vt:lpstr>
      <vt:lpstr>Literature Survey</vt:lpstr>
      <vt:lpstr>Research Gap</vt:lpstr>
      <vt:lpstr>PowerPoint Presentation</vt:lpstr>
      <vt:lpstr>Proposed System — Six-Stage AI Pipeline</vt:lpstr>
      <vt:lpstr>Implementation Highlights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Outcomes</vt:lpstr>
      <vt:lpstr>Conclusion, Future Work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Mudit Gupta</cp:lastModifiedBy>
  <cp:revision>17</cp:revision>
  <dcterms:created xsi:type="dcterms:W3CDTF">2026-08-06T08:35:21Z</dcterms:created>
  <dcterms:modified xsi:type="dcterms:W3CDTF">2026-10-12T05:52:23Z</dcterms:modified>
</cp:coreProperties>
</file>